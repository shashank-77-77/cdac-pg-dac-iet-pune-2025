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24" r:id="rId3"/>
    <p:sldId id="321" r:id="rId4"/>
    <p:sldId id="317" r:id="rId5"/>
    <p:sldId id="355" r:id="rId6"/>
    <p:sldId id="316" r:id="rId7"/>
    <p:sldId id="281" r:id="rId8"/>
    <p:sldId id="326" r:id="rId9"/>
    <p:sldId id="315" r:id="rId10"/>
    <p:sldId id="31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8" r:id="rId19"/>
    <p:sldId id="263" r:id="rId20"/>
    <p:sldId id="283" r:id="rId21"/>
    <p:sldId id="356" r:id="rId22"/>
    <p:sldId id="357" r:id="rId23"/>
    <p:sldId id="358" r:id="rId24"/>
    <p:sldId id="359" r:id="rId25"/>
    <p:sldId id="360" r:id="rId26"/>
    <p:sldId id="268" r:id="rId27"/>
    <p:sldId id="269" r:id="rId28"/>
    <p:sldId id="325" r:id="rId29"/>
    <p:sldId id="270" r:id="rId30"/>
    <p:sldId id="271" r:id="rId31"/>
    <p:sldId id="272" r:id="rId32"/>
    <p:sldId id="273" r:id="rId33"/>
    <p:sldId id="287" r:id="rId34"/>
    <p:sldId id="288" r:id="rId35"/>
    <p:sldId id="275" r:id="rId36"/>
    <p:sldId id="339" r:id="rId37"/>
    <p:sldId id="353" r:id="rId38"/>
    <p:sldId id="340" r:id="rId39"/>
    <p:sldId id="342" r:id="rId40"/>
    <p:sldId id="341" r:id="rId41"/>
    <p:sldId id="328" r:id="rId42"/>
    <p:sldId id="345" r:id="rId43"/>
    <p:sldId id="346" r:id="rId44"/>
    <p:sldId id="347" r:id="rId45"/>
    <p:sldId id="348" r:id="rId46"/>
    <p:sldId id="349" r:id="rId47"/>
    <p:sldId id="344" r:id="rId48"/>
    <p:sldId id="350" r:id="rId49"/>
    <p:sldId id="351" r:id="rId50"/>
    <p:sldId id="352" r:id="rId51"/>
    <p:sldId id="343" r:id="rId52"/>
    <p:sldId id="354" r:id="rId53"/>
    <p:sldId id="276" r:id="rId54"/>
    <p:sldId id="329" r:id="rId55"/>
    <p:sldId id="277" r:id="rId56"/>
    <p:sldId id="278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43" autoAdjust="0"/>
  </p:normalViewPr>
  <p:slideViewPr>
    <p:cSldViewPr>
      <p:cViewPr varScale="1">
        <p:scale>
          <a:sx n="79" d="100"/>
          <a:sy n="79" d="100"/>
        </p:scale>
        <p:origin x="157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D394F-2DB5-496B-9452-BCA970C9CBBD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D6CA9-7AFA-4CA0-B87D-8DC839ACDB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0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D6CA9-7AFA-4CA0-B87D-8DC839ACDB1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38580-6ABD-49A5-840D-71A5D9F7D420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3F4E7-8CAC-423B-B87A-47662C87D1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6vKRFH2Wm6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BUSINESS </a:t>
            </a:r>
            <a:r>
              <a:rPr lang="en-US" dirty="0" smtClean="0"/>
              <a:t>SKILLS</a:t>
            </a:r>
            <a:endParaRPr lang="en-US" dirty="0"/>
          </a:p>
        </p:txBody>
      </p:sp>
      <p:pic>
        <p:nvPicPr>
          <p:cNvPr id="6" name="Picture 5" descr="https://tse4.mm.bing.net/th?id=OIP.g1ADw7fgknJUfNMf_HOBhwHaFt&amp;pid=15.1&amp;P=0&amp;w=266&amp;h=20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229600" cy="41645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Create a Company Culture That Stands the Test of Time | Inc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905000"/>
            <a:ext cx="2667001" cy="280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1962" y="5176043"/>
            <a:ext cx="2357438" cy="95410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/>
              <a:t>Business Culture</a:t>
            </a:r>
          </a:p>
        </p:txBody>
      </p:sp>
      <p:pic>
        <p:nvPicPr>
          <p:cNvPr id="1028" name="Picture 4" descr="Business Etiquette Basics - YouTu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905000"/>
            <a:ext cx="2743200" cy="280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402805" y="5176043"/>
            <a:ext cx="2357438" cy="95410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/>
              <a:t>Business </a:t>
            </a:r>
            <a:r>
              <a:rPr lang="en-US" sz="2800" dirty="0" smtClean="0"/>
              <a:t>Etiquette</a:t>
            </a:r>
            <a:endParaRPr lang="en-US" sz="2800" dirty="0"/>
          </a:p>
        </p:txBody>
      </p:sp>
      <p:pic>
        <p:nvPicPr>
          <p:cNvPr id="1030" name="Picture 6" descr="Why communication skills are important in busin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905001"/>
            <a:ext cx="2552700" cy="280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6248400" y="5176043"/>
            <a:ext cx="2628900" cy="10156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/>
              <a:t>Business </a:t>
            </a:r>
            <a:r>
              <a:rPr lang="en-US" sz="2800" dirty="0" smtClean="0"/>
              <a:t>Correspondence</a:t>
            </a:r>
            <a:endParaRPr lang="en-US" sz="28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BUSINESS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65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CULTURE</a:t>
            </a:r>
            <a:endParaRPr lang="en-US" dirty="0"/>
          </a:p>
        </p:txBody>
      </p:sp>
      <p:sp>
        <p:nvSpPr>
          <p:cNvPr id="19458" name="AutoShape 2" descr="https://s-media-cache-ak0.pinimg.com/736x/4d/0d/bb/4d0dbb1daf1e974acb4fe1a327ebb533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0" name="AutoShape 4" descr="https://s-media-cache-ak0.pinimg.com/736x/4d/0d/bb/4d0dbb1daf1e974acb4fe1a327ebb533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2" name="AutoShape 6" descr="https://s-media-cache-ak0.pinimg.com/736x/4d/0d/bb/4d0dbb1daf1e974acb4fe1a327ebb533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Intercultural Training and the Iceberg Mode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Intercultural Training and the Iceberg Mode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Intercultural Training and the Iceberg Model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 descr="Intercultural Training and the Iceberg Model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8" name="Picture 10" descr="Intercultural Training and the Iceberg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743" y="1752600"/>
            <a:ext cx="6640513" cy="427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22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Why To understand Cultural Dimensions?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Culture is the full range of learned human behavior patterns.</a:t>
            </a:r>
          </a:p>
          <a:p>
            <a:r>
              <a:rPr lang="en-US" dirty="0">
                <a:solidFill>
                  <a:srgbClr val="FF0000"/>
                </a:solidFill>
              </a:rPr>
              <a:t>Culture is "that complex whole which includes knowledge, belief, art, law, morals, custom, and any other capabilities and habits acquired by man as a member of society.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It is constantly changing and easily lost because it exists only in our minds.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83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8153400" cy="41910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Overall, culture is a fundamental aspect of human existence, shaping individuals' perceptions, values, and behaviors, and contributing to the richness and diversity of the world we live 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5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CULTURE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1822"/>
            <a:ext cx="7710890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87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Hofstede’s Cultural </a:t>
            </a:r>
            <a:r>
              <a:rPr lang="en-US" b="1" dirty="0" smtClean="0"/>
              <a:t>dimensions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 descr="Image result for hofstede cultural dimensions">
            <a:extLst>
              <a:ext uri="{FF2B5EF4-FFF2-40B4-BE49-F238E27FC236}">
                <a16:creationId xmlns:a16="http://schemas.microsoft.com/office/drawing/2014/main" id="{4AA8B80A-8693-4CBB-8CB1-D0B29927F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3265"/>
            <a:ext cx="9144000" cy="51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23887" y="304800"/>
            <a:ext cx="28956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IDENTITY</a:t>
            </a:r>
            <a:endParaRPr lang="en-IN" sz="3200" dirty="0"/>
          </a:p>
        </p:txBody>
      </p:sp>
      <p:sp>
        <p:nvSpPr>
          <p:cNvPr id="5" name="Oval 4"/>
          <p:cNvSpPr/>
          <p:nvPr/>
        </p:nvSpPr>
        <p:spPr>
          <a:xfrm>
            <a:off x="685800" y="5095875"/>
            <a:ext cx="28956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GENDER</a:t>
            </a:r>
            <a:endParaRPr lang="en-IN" sz="3200" dirty="0"/>
          </a:p>
        </p:txBody>
      </p:sp>
      <p:sp>
        <p:nvSpPr>
          <p:cNvPr id="6" name="Oval 5"/>
          <p:cNvSpPr/>
          <p:nvPr/>
        </p:nvSpPr>
        <p:spPr>
          <a:xfrm>
            <a:off x="5105400" y="3810000"/>
            <a:ext cx="35052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TIME</a:t>
            </a:r>
            <a:endParaRPr lang="en-IN" sz="3200" dirty="0"/>
          </a:p>
        </p:txBody>
      </p:sp>
      <p:sp>
        <p:nvSpPr>
          <p:cNvPr id="7" name="Oval 6"/>
          <p:cNvSpPr/>
          <p:nvPr/>
        </p:nvSpPr>
        <p:spPr>
          <a:xfrm>
            <a:off x="633412" y="2514600"/>
            <a:ext cx="28956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POWER</a:t>
            </a:r>
            <a:endParaRPr lang="en-IN" sz="3200" dirty="0"/>
          </a:p>
        </p:txBody>
      </p:sp>
      <p:sp>
        <p:nvSpPr>
          <p:cNvPr id="8" name="Oval 7"/>
          <p:cNvSpPr/>
          <p:nvPr/>
        </p:nvSpPr>
        <p:spPr>
          <a:xfrm>
            <a:off x="5029200" y="1200150"/>
            <a:ext cx="3581400" cy="152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UNCERTAINTY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1712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>
                <a:hlinkClick r:id="rId2"/>
              </a:rPr>
              <a:t/>
            </a:r>
            <a:br>
              <a:rPr lang="en-US" u="sng" dirty="0" smtClean="0">
                <a:hlinkClick r:id="rId2"/>
              </a:rPr>
            </a:br>
            <a:r>
              <a:rPr lang="en-US" u="sng" dirty="0" smtClean="0">
                <a:hlinkClick r:id="rId2"/>
              </a:rPr>
              <a:t>Milton </a:t>
            </a:r>
            <a:r>
              <a:rPr lang="en-US" u="sng" dirty="0">
                <a:hlinkClick r:id="rId2"/>
              </a:rPr>
              <a:t>Bennett</a:t>
            </a:r>
            <a:r>
              <a:rPr lang="en-US" dirty="0"/>
              <a:t> 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074" name="Picture 2" descr="The Milton Bennett scale The Bennett scale is a convenient model to... | 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9538"/>
            <a:ext cx="6257925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evelopmental Model of Intercultural Sensitivity (DMIS) — deepSEE Consult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4" y="4756151"/>
            <a:ext cx="5514975" cy="141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85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04703"/>
            <a:ext cx="5624513" cy="4224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16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3959863" cy="34054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57800" y="2198914"/>
            <a:ext cx="34290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74151"/>
                </a:solidFill>
                <a:latin typeface="Söhne"/>
              </a:rPr>
              <a:t>The company's "20% time" policy allows employees to spend a portion of their working hours on personal projects, fostering a culture of experimentation and creativity.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210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3959863" cy="34054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57800" y="2389023"/>
            <a:ext cx="3429000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"TGIF" (Thank God It's Friday) meetings, facilitate cross-functional collaboration and knowledge sharing.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3750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3959863" cy="34054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65057" y="1828800"/>
            <a:ext cx="342900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The company provides on-site gyms, recreational facilities, flexible working hours, and other benefits to promote employee well-being and overall satisfaction.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004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43000"/>
            <a:ext cx="56388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4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767604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9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5704628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0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0" y="1600200"/>
            <a:ext cx="3886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374151"/>
                </a:solidFill>
                <a:latin typeface="Söhne"/>
              </a:rPr>
              <a:t>Tata Group also encourages a culture of continuous learning and innovation among its employees.</a:t>
            </a:r>
            <a:endParaRPr lang="en-IN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7285"/>
            <a:ext cx="4015603" cy="368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05400" y="2438400"/>
            <a:ext cx="3886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Tata Group has a deep-rooted culture of social responsibility.</a:t>
            </a:r>
            <a:endParaRPr lang="en-IN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7800"/>
            <a:ext cx="4015603" cy="368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7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BUSINESS </a:t>
            </a:r>
            <a:r>
              <a:rPr lang="en-US" b="1" dirty="0" smtClean="0">
                <a:solidFill>
                  <a:srgbClr val="FF0000"/>
                </a:solidFill>
              </a:rPr>
              <a:t>ETIQUETTE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434" name="AutoShape 2" descr="https://tse2.mm.bing.net/th?id=OIP.WrhGSgYlJ6comF2TLBNiGQHaHZ&amp;pid=15.1&amp;P=0&amp;w=300&amp;h=30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36" name="Picture 4" descr="https://tse2.mm.bing.net/th?id=OIP.WrhGSgYlJ6comF2TLBNiGQHaHZ&amp;pid=15.1&amp;P=0&amp;w=300&amp;h=30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752600"/>
            <a:ext cx="4267200" cy="426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What  is Business Etiquette?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19400"/>
            <a:ext cx="9144000" cy="1828799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</a:t>
            </a:r>
            <a:r>
              <a:rPr lang="en-US" dirty="0"/>
              <a:t> code of ethical behavior regarding professional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practice</a:t>
            </a:r>
            <a:r>
              <a:rPr lang="en-US" dirty="0"/>
              <a:t> or action among the members of a </a:t>
            </a:r>
            <a:r>
              <a:rPr lang="en-US" dirty="0" smtClean="0"/>
              <a:t>profession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in their dealings with each other. 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Case Study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61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Business Etiquette in a Global Conference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/>
              <a:t>You are an executive from a multinational technology company, </a:t>
            </a:r>
            <a:r>
              <a:rPr lang="en-US" dirty="0" err="1"/>
              <a:t>TechGen</a:t>
            </a:r>
            <a:r>
              <a:rPr lang="en-US" dirty="0"/>
              <a:t>, attending a global conference focused on emerging technologies, innovation, and networking. The conference is being held in a major city and will last for three days. Participants include representatives from various industries, including technology, finance, healthcare, and more. Your goal is to make valuable connections, showcase </a:t>
            </a:r>
            <a:r>
              <a:rPr lang="en-US" dirty="0" err="1"/>
              <a:t>TechGen's</a:t>
            </a:r>
            <a:r>
              <a:rPr lang="en-US" dirty="0"/>
              <a:t> latest advancements, and potentially strike partnership deals.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9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/>
              <a:t>The conference participants come from diverse cultural backgrounds, and each culture might have its own expectations and norms when it comes to business interactions and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35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/>
              <a:t>The conference includes breakfasts, lunches, and dinners, where participants can mingle in a more relaxed setting. You're unsure about how to balance casual conversation with business discussions during these mealtime interactions.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29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Adaptability</a:t>
            </a:r>
          </a:p>
          <a:p>
            <a:r>
              <a:rPr lang="en-IN" dirty="0"/>
              <a:t>The </a:t>
            </a:r>
            <a:r>
              <a:rPr lang="en-IN" dirty="0" smtClean="0"/>
              <a:t>Approach</a:t>
            </a:r>
          </a:p>
          <a:p>
            <a:r>
              <a:rPr lang="en-IN" dirty="0"/>
              <a:t>Active </a:t>
            </a:r>
            <a:r>
              <a:rPr lang="en-IN" dirty="0" smtClean="0"/>
              <a:t>Listening</a:t>
            </a:r>
          </a:p>
          <a:p>
            <a:r>
              <a:rPr lang="en-IN" dirty="0"/>
              <a:t>Audience </a:t>
            </a:r>
            <a:r>
              <a:rPr lang="en-IN" dirty="0" smtClean="0"/>
              <a:t>Analysis</a:t>
            </a:r>
          </a:p>
          <a:p>
            <a:r>
              <a:rPr lang="en-IN" dirty="0"/>
              <a:t>Balanced </a:t>
            </a:r>
            <a:r>
              <a:rPr lang="en-IN" dirty="0" smtClean="0"/>
              <a:t>Conversations</a:t>
            </a:r>
          </a:p>
          <a:p>
            <a:r>
              <a:rPr lang="en-IN" dirty="0"/>
              <a:t>Respect Privacy</a:t>
            </a:r>
          </a:p>
        </p:txBody>
      </p:sp>
    </p:spTree>
    <p:extLst>
      <p:ext uri="{BB962C8B-B14F-4D97-AF65-F5344CB8AC3E}">
        <p14:creationId xmlns:p14="http://schemas.microsoft.com/office/powerpoint/2010/main" val="333266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09600"/>
            <a:ext cx="7772400" cy="14700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i="1" dirty="0">
                <a:solidFill>
                  <a:srgbClr val="FF0000"/>
                </a:solidFill>
              </a:rPr>
              <a:t>Attire </a:t>
            </a:r>
            <a:r>
              <a:rPr lang="en-US" i="1" dirty="0" smtClean="0">
                <a:solidFill>
                  <a:srgbClr val="FF0000"/>
                </a:solidFill>
              </a:rPr>
              <a:t>management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5" name="Picture 4" descr="business-nonverbal-communication-2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62137" y="2438400"/>
            <a:ext cx="5724525" cy="3971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pPr algn="ctr"/>
            <a:r>
              <a:rPr lang="en-US" dirty="0"/>
              <a:t>First Impression</a:t>
            </a:r>
            <a:endParaRPr lang="en-IN" dirty="0"/>
          </a:p>
        </p:txBody>
      </p:sp>
      <p:pic>
        <p:nvPicPr>
          <p:cNvPr id="4" name="Content Placeholder 3" descr="Next Genera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419872" y="1412776"/>
            <a:ext cx="2880320" cy="4349750"/>
          </a:xfrm>
        </p:spPr>
      </p:pic>
      <p:sp>
        <p:nvSpPr>
          <p:cNvPr id="5" name="Rectangle 4"/>
          <p:cNvSpPr/>
          <p:nvPr/>
        </p:nvSpPr>
        <p:spPr>
          <a:xfrm>
            <a:off x="1331640" y="1556941"/>
            <a:ext cx="2016224" cy="5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pture it" pitchFamily="2" charset="0"/>
              </a:rPr>
              <a:t>Dress Well</a:t>
            </a:r>
            <a:endParaRPr lang="en-IN" sz="1400" dirty="0">
              <a:latin typeface="Capture i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9632" y="2565053"/>
            <a:ext cx="2088232" cy="5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pture it" pitchFamily="2" charset="0"/>
              </a:rPr>
              <a:t>Use  a right formal combination</a:t>
            </a:r>
            <a:endParaRPr lang="en-IN" sz="1400" dirty="0">
              <a:latin typeface="Capture it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87624" y="3356992"/>
            <a:ext cx="2088232" cy="5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pture it" pitchFamily="2" charset="0"/>
              </a:rPr>
              <a:t>Be proactive</a:t>
            </a:r>
            <a:endParaRPr lang="en-IN" sz="1400" dirty="0">
              <a:latin typeface="Capture it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7624" y="4293096"/>
            <a:ext cx="2088232" cy="5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pture it" pitchFamily="2" charset="0"/>
              </a:rPr>
              <a:t>make your style</a:t>
            </a:r>
            <a:endParaRPr lang="en-IN" sz="1400" dirty="0">
              <a:latin typeface="Capture i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87624" y="5229200"/>
            <a:ext cx="2088232" cy="5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pture it" pitchFamily="2" charset="0"/>
              </a:rPr>
              <a:t>Be humble</a:t>
            </a:r>
            <a:endParaRPr lang="en-IN" sz="1400" dirty="0">
              <a:latin typeface="Capture it" pitchFamily="2" charset="0"/>
            </a:endParaRPr>
          </a:p>
        </p:txBody>
      </p:sp>
      <p:pic>
        <p:nvPicPr>
          <p:cNvPr id="11" name="Picture 10" descr="aqua_smiles_ful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1844675"/>
            <a:ext cx="2592407" cy="3240509"/>
          </a:xfrm>
          <a:prstGeom prst="rect">
            <a:avLst/>
          </a:prstGeom>
        </p:spPr>
      </p:pic>
      <p:sp>
        <p:nvSpPr>
          <p:cNvPr id="12" name="Explosion 2 11"/>
          <p:cNvSpPr/>
          <p:nvPr/>
        </p:nvSpPr>
        <p:spPr>
          <a:xfrm>
            <a:off x="5868144" y="908720"/>
            <a:ext cx="3888432" cy="4536504"/>
          </a:xfrm>
          <a:prstGeom prst="irregularSeal2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pture it" pitchFamily="2" charset="0"/>
              </a:rPr>
              <a:t>Smile please</a:t>
            </a:r>
            <a:endParaRPr lang="en-IN" sz="3200" dirty="0">
              <a:latin typeface="Capture it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smtClean="0"/>
              <a:t>VIDEO</a:t>
            </a:r>
            <a:endParaRPr lang="en-IN" dirty="0"/>
          </a:p>
        </p:txBody>
      </p:sp>
      <p:pic>
        <p:nvPicPr>
          <p:cNvPr id="1026" name="Picture 2" descr="How to delete YouTube video uploaded on your channel - Information Ne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334250" cy="41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11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RULE OF </a:t>
            </a:r>
            <a:r>
              <a:rPr lang="en-US" b="1" dirty="0" smtClean="0">
                <a:solidFill>
                  <a:srgbClr val="FF0000"/>
                </a:solidFill>
              </a:rPr>
              <a:t>12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2057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fontAlgn="base"/>
            <a:r>
              <a:rPr lang="en-US" dirty="0"/>
              <a:t>The first twelve inches from the shoulders </a:t>
            </a:r>
            <a:r>
              <a:rPr lang="en-US" dirty="0" smtClean="0"/>
              <a:t>up</a:t>
            </a:r>
            <a:endParaRPr lang="en-US" dirty="0"/>
          </a:p>
          <a:p>
            <a:pPr fontAlgn="base"/>
            <a:r>
              <a:rPr lang="en-US" dirty="0"/>
              <a:t>The first twelve steps a person </a:t>
            </a:r>
            <a:r>
              <a:rPr lang="en-US" dirty="0" smtClean="0"/>
              <a:t>takes</a:t>
            </a:r>
            <a:endParaRPr lang="en-US" dirty="0"/>
          </a:p>
          <a:p>
            <a:pPr fontAlgn="base"/>
            <a:r>
              <a:rPr lang="en-US" dirty="0"/>
              <a:t>The first twelve words a person </a:t>
            </a:r>
            <a:r>
              <a:rPr lang="en-US" dirty="0" smtClean="0"/>
              <a:t>states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First </a:t>
            </a:r>
            <a:r>
              <a:rPr lang="en-US" b="1" dirty="0" smtClean="0">
                <a:solidFill>
                  <a:srgbClr val="FF0000"/>
                </a:solidFill>
              </a:rPr>
              <a:t>Talk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Small Talk</a:t>
            </a:r>
          </a:p>
          <a:p>
            <a:pPr marL="514350" indent="-514350">
              <a:buAutoNum type="arabicPeriod"/>
            </a:pPr>
            <a:r>
              <a:rPr lang="en-US" dirty="0"/>
              <a:t>Impromptu</a:t>
            </a:r>
          </a:p>
          <a:p>
            <a:pPr marL="514350" indent="-514350">
              <a:buAutoNum type="arabicPeriod"/>
            </a:pPr>
            <a:r>
              <a:rPr lang="en-US" dirty="0"/>
              <a:t>Elevator talk</a:t>
            </a:r>
          </a:p>
        </p:txBody>
      </p:sp>
      <p:sp>
        <p:nvSpPr>
          <p:cNvPr id="14338" name="AutoShape 2" descr="http://www.business-spotlight.de/files/business/leadimages/Fotolia_1041765_Subscription_L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40" name="AutoShape 4" descr="http://www.business-spotlight.de/files/business/leadimages/Fotolia_1041765_Subscription_L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2" name="Picture 6" descr="http://images.wisegeek.com/white-man-and-asian-woman-talk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1676400"/>
            <a:ext cx="4302384" cy="3429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Office </a:t>
            </a:r>
            <a:r>
              <a:rPr lang="en-US" b="1" dirty="0" smtClean="0">
                <a:solidFill>
                  <a:srgbClr val="FF0000"/>
                </a:solidFill>
              </a:rPr>
              <a:t>Etiquette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Power of </a:t>
            </a:r>
            <a:r>
              <a:rPr lang="en-US" dirty="0" smtClean="0"/>
              <a:t>greeting</a:t>
            </a:r>
            <a:endParaRPr lang="en-US" dirty="0"/>
          </a:p>
          <a:p>
            <a:r>
              <a:rPr lang="en-US" dirty="0"/>
              <a:t>Power of </a:t>
            </a:r>
            <a:r>
              <a:rPr lang="en-US" dirty="0" smtClean="0"/>
              <a:t>acknowledgement</a:t>
            </a:r>
            <a:endParaRPr lang="en-US" dirty="0"/>
          </a:p>
          <a:p>
            <a:r>
              <a:rPr lang="en-US" dirty="0"/>
              <a:t>Power of </a:t>
            </a:r>
            <a:r>
              <a:rPr lang="en-US" dirty="0" smtClean="0"/>
              <a:t>smile</a:t>
            </a:r>
            <a:endParaRPr lang="en-US" dirty="0"/>
          </a:p>
          <a:p>
            <a:r>
              <a:rPr lang="en-US" dirty="0"/>
              <a:t>Power of </a:t>
            </a:r>
            <a:r>
              <a:rPr lang="en-US" dirty="0" smtClean="0"/>
              <a:t>courtesy</a:t>
            </a:r>
            <a:endParaRPr lang="en-US" dirty="0"/>
          </a:p>
          <a:p>
            <a:r>
              <a:rPr lang="en-US" dirty="0"/>
              <a:t>Privacy is the </a:t>
            </a:r>
            <a:r>
              <a:rPr lang="en-US" dirty="0" smtClean="0"/>
              <a:t>key</a:t>
            </a:r>
            <a:endParaRPr lang="en-US" dirty="0"/>
          </a:p>
          <a:p>
            <a:r>
              <a:rPr lang="en-US" dirty="0"/>
              <a:t>Gossip is </a:t>
            </a:r>
            <a:r>
              <a:rPr lang="en-US" dirty="0" smtClean="0"/>
              <a:t>dangerous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 descr="Workplace Convers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971800"/>
            <a:ext cx="2895600" cy="2895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Telephone </a:t>
            </a:r>
            <a:r>
              <a:rPr lang="en-US" dirty="0" smtClean="0"/>
              <a:t>Etiquette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7890" name="Picture 2" descr="http://image.slidesharecdn.com/telephoneetiquette-140628022416-phpapp02/95/telephone-etiquette-13-638.jpg?cb=14039223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29600" cy="441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" y="-2073275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phone etiquette">
            <a:extLst>
              <a:ext uri="{FF2B5EF4-FFF2-40B4-BE49-F238E27FC236}">
                <a16:creationId xmlns:a16="http://schemas.microsoft.com/office/drawing/2014/main" id="{703FBF3A-6880-468C-9D93-620EFDF48F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7093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phone etiquette">
            <a:extLst>
              <a:ext uri="{FF2B5EF4-FFF2-40B4-BE49-F238E27FC236}">
                <a16:creationId xmlns:a16="http://schemas.microsoft.com/office/drawing/2014/main" id="{94A373CC-0C25-4F59-A3F9-84C2239D6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04801"/>
            <a:ext cx="29527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phone etiquette">
            <a:extLst>
              <a:ext uri="{FF2B5EF4-FFF2-40B4-BE49-F238E27FC236}">
                <a16:creationId xmlns:a16="http://schemas.microsoft.com/office/drawing/2014/main" id="{892649C2-600C-4BE2-80F0-5553656A8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7" y="3989950"/>
            <a:ext cx="189547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phone etiquette">
            <a:extLst>
              <a:ext uri="{FF2B5EF4-FFF2-40B4-BE49-F238E27FC236}">
                <a16:creationId xmlns:a16="http://schemas.microsoft.com/office/drawing/2014/main" id="{43AD5CD4-B22A-49E4-B33A-1461C591A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84" y="4289987"/>
            <a:ext cx="252412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phone etiquette">
            <a:extLst>
              <a:ext uri="{FF2B5EF4-FFF2-40B4-BE49-F238E27FC236}">
                <a16:creationId xmlns:a16="http://schemas.microsoft.com/office/drawing/2014/main" id="{71F88F29-5DCC-4DFB-A790-88A501DB9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1752600"/>
            <a:ext cx="4114800" cy="205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i="1" dirty="0" smtClean="0">
                <a:solidFill>
                  <a:srgbClr val="FF0000"/>
                </a:solidFill>
              </a:rPr>
              <a:t>DINNING ETIQUETTE</a:t>
            </a:r>
            <a:endParaRPr lang="en-US" dirty="0"/>
          </a:p>
        </p:txBody>
      </p:sp>
      <p:pic>
        <p:nvPicPr>
          <p:cNvPr id="2050" name="Picture 2" descr="Image result for dining etiquette">
            <a:extLst>
              <a:ext uri="{FF2B5EF4-FFF2-40B4-BE49-F238E27FC236}">
                <a16:creationId xmlns:a16="http://schemas.microsoft.com/office/drawing/2014/main" id="{1AB718DE-D7DF-48B7-94FE-D87594E2D1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9287" y="1877219"/>
            <a:ext cx="5305425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Some Tips on Dinning Etiquette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The host should always be in charge</a:t>
            </a:r>
          </a:p>
        </p:txBody>
      </p:sp>
    </p:spTree>
    <p:extLst>
      <p:ext uri="{BB962C8B-B14F-4D97-AF65-F5344CB8AC3E}">
        <p14:creationId xmlns:p14="http://schemas.microsoft.com/office/powerpoint/2010/main" val="325251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Touching </a:t>
            </a:r>
            <a:r>
              <a:rPr lang="en-US" b="1" dirty="0"/>
              <a:t>all of the food</a:t>
            </a:r>
          </a:p>
        </p:txBody>
      </p:sp>
    </p:spTree>
    <p:extLst>
      <p:ext uri="{BB962C8B-B14F-4D97-AF65-F5344CB8AC3E}">
        <p14:creationId xmlns:p14="http://schemas.microsoft.com/office/powerpoint/2010/main" val="259867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Keep </a:t>
            </a:r>
            <a:r>
              <a:rPr lang="en-US" b="1" dirty="0"/>
              <a:t>the food options balanced with your guest</a:t>
            </a:r>
          </a:p>
        </p:txBody>
      </p:sp>
    </p:spTree>
    <p:extLst>
      <p:ext uri="{BB962C8B-B14F-4D97-AF65-F5344CB8AC3E}">
        <p14:creationId xmlns:p14="http://schemas.microsoft.com/office/powerpoint/2010/main" val="316420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Do </a:t>
            </a:r>
            <a:r>
              <a:rPr lang="en-US" b="1" dirty="0"/>
              <a:t>not use the napkin as a tissue</a:t>
            </a:r>
          </a:p>
        </p:txBody>
      </p:sp>
    </p:spTree>
    <p:extLst>
      <p:ext uri="{BB962C8B-B14F-4D97-AF65-F5344CB8AC3E}">
        <p14:creationId xmlns:p14="http://schemas.microsoft.com/office/powerpoint/2010/main" val="140235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Know </a:t>
            </a:r>
            <a:r>
              <a:rPr lang="en-US" b="1" dirty="0"/>
              <a:t>the "rest" and "finished" positions</a:t>
            </a:r>
          </a:p>
        </p:txBody>
      </p:sp>
    </p:spTree>
    <p:extLst>
      <p:ext uri="{BB962C8B-B14F-4D97-AF65-F5344CB8AC3E}">
        <p14:creationId xmlns:p14="http://schemas.microsoft.com/office/powerpoint/2010/main" val="5705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ble etiquette: How you place your cutlery and what it says | The Times of  In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23900"/>
            <a:ext cx="71628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13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The host should always be in charge</a:t>
            </a:r>
          </a:p>
        </p:txBody>
      </p:sp>
    </p:spTree>
    <p:extLst>
      <p:ext uri="{BB962C8B-B14F-4D97-AF65-F5344CB8AC3E}">
        <p14:creationId xmlns:p14="http://schemas.microsoft.com/office/powerpoint/2010/main" val="353657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Cutting </a:t>
            </a:r>
            <a:r>
              <a:rPr lang="en-US" b="1" dirty="0"/>
              <a:t>Your Food into Bite-Sized Pieces </a:t>
            </a:r>
            <a:r>
              <a:rPr lang="en-US" b="1" dirty="0" smtClean="0"/>
              <a:t>all </a:t>
            </a:r>
            <a:r>
              <a:rPr lang="en-US" b="1" dirty="0"/>
              <a:t>at </a:t>
            </a:r>
            <a:r>
              <a:rPr lang="en-US" b="1" dirty="0" smtClean="0"/>
              <a:t>Once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8827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smtClean="0"/>
              <a:t> No </a:t>
            </a:r>
            <a:r>
              <a:rPr lang="en-IN" b="1" dirty="0"/>
              <a:t>Phones at Dinner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568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Chewing </a:t>
            </a:r>
            <a:r>
              <a:rPr lang="en-US" b="1" dirty="0"/>
              <a:t>with you mouth open</a:t>
            </a:r>
          </a:p>
        </p:txBody>
      </p:sp>
    </p:spTree>
    <p:extLst>
      <p:ext uri="{BB962C8B-B14F-4D97-AF65-F5344CB8AC3E}">
        <p14:creationId xmlns:p14="http://schemas.microsoft.com/office/powerpoint/2010/main" val="237794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 Being </a:t>
            </a:r>
            <a:r>
              <a:rPr lang="en-US" b="1" dirty="0"/>
              <a:t>rude to the </a:t>
            </a:r>
            <a:r>
              <a:rPr lang="en-US" b="1" dirty="0" smtClean="0"/>
              <a:t>waiter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261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Keep the tip for the waiter ( 10 %)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196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838200"/>
            <a:ext cx="8229600" cy="5105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smtClean="0"/>
              <a:t>Here </a:t>
            </a:r>
            <a:r>
              <a:rPr lang="en-US" sz="2800" b="1" dirty="0"/>
              <a:t>are six conversation topics you should avoid at the dinner table:</a:t>
            </a:r>
            <a:endParaRPr lang="en-US" sz="2800" b="1" dirty="0" smtClean="0"/>
          </a:p>
          <a:p>
            <a:pPr algn="l"/>
            <a:r>
              <a:rPr lang="en-US" sz="2800" dirty="0" smtClean="0"/>
              <a:t>Relationship </a:t>
            </a:r>
            <a:r>
              <a:rPr lang="en-US" sz="2800" dirty="0"/>
              <a:t>status. </a:t>
            </a:r>
            <a:endParaRPr lang="en-US" sz="2800" dirty="0" smtClean="0"/>
          </a:p>
          <a:p>
            <a:pPr algn="l"/>
            <a:r>
              <a:rPr lang="en-US" sz="2800" dirty="0" smtClean="0"/>
              <a:t>Never </a:t>
            </a:r>
            <a:r>
              <a:rPr lang="en-US" sz="2800" dirty="0"/>
              <a:t>ask someone about their relationship status at the dinner table. ...</a:t>
            </a:r>
          </a:p>
          <a:p>
            <a:pPr algn="l"/>
            <a:r>
              <a:rPr lang="en-US" sz="2800" dirty="0"/>
              <a:t>Health &amp; Appearance. Health and appearance are also topics that should be avoided. ...</a:t>
            </a:r>
          </a:p>
          <a:p>
            <a:pPr algn="l"/>
            <a:r>
              <a:rPr lang="en-US" sz="2800" dirty="0"/>
              <a:t>Plan for having children. ...</a:t>
            </a:r>
          </a:p>
          <a:p>
            <a:pPr algn="l"/>
            <a:r>
              <a:rPr lang="en-US" sz="2800" dirty="0"/>
              <a:t>Politics. ...</a:t>
            </a:r>
          </a:p>
          <a:p>
            <a:pPr algn="l"/>
            <a:r>
              <a:rPr lang="en-US" sz="2800" dirty="0"/>
              <a:t>Religion. ...</a:t>
            </a:r>
          </a:p>
          <a:p>
            <a:pPr algn="l"/>
            <a:r>
              <a:rPr lang="en-US" sz="2800" dirty="0"/>
              <a:t>Personal Finances.</a:t>
            </a:r>
          </a:p>
        </p:txBody>
      </p:sp>
    </p:spTree>
    <p:extLst>
      <p:ext uri="{BB962C8B-B14F-4D97-AF65-F5344CB8AC3E}">
        <p14:creationId xmlns:p14="http://schemas.microsoft.com/office/powerpoint/2010/main" val="198674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Do not lean forward for the food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992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 smtClean="0"/>
          </a:p>
          <a:p>
            <a:r>
              <a:rPr lang="en-US" b="1" dirty="0" smtClean="0"/>
              <a:t>Stay </a:t>
            </a:r>
            <a:r>
              <a:rPr lang="en-US" b="1" dirty="0"/>
              <a:t>seated and sit up straight.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109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 smtClean="0"/>
              <a:t>The </a:t>
            </a:r>
            <a:r>
              <a:rPr lang="en-US" b="1" dirty="0"/>
              <a:t>host should always pay</a:t>
            </a:r>
          </a:p>
        </p:txBody>
      </p:sp>
    </p:spTree>
    <p:extLst>
      <p:ext uri="{BB962C8B-B14F-4D97-AF65-F5344CB8AC3E}">
        <p14:creationId xmlns:p14="http://schemas.microsoft.com/office/powerpoint/2010/main" val="342591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2514600"/>
            <a:ext cx="82296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Sending the thank you note to the host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031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Elevator </a:t>
            </a:r>
            <a:r>
              <a:rPr lang="en-US" b="1" dirty="0" smtClean="0">
                <a:solidFill>
                  <a:srgbClr val="FF0000"/>
                </a:solidFill>
              </a:rPr>
              <a:t>Etiquette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218" name="AutoShape 2" descr="https://tse3.mm.bing.net/th?id=OIP.uT4rj9gkXUkKE8WI9GNsNwHaFj&amp;pid=15.1&amp;P=0&amp;w=230&amp;h=17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0" name="AutoShape 4" descr="https://tse4.mm.bing.net/th?id=OIP.xp667gx28IprI-UWUSPVsgEsDI&amp;pid=15.1&amp;P=0&amp;w=291&amp;h=19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2" name="Picture 6" descr="http://toc.h-cdn.co/assets/14/44/1600x800/nrm_1414682548-7874944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017713"/>
            <a:ext cx="7089773" cy="35448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1. Hold the door for the person behind </a:t>
            </a:r>
            <a:r>
              <a:rPr lang="en-US" dirty="0" smtClean="0"/>
              <a:t>you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dirty="0" smtClean="0"/>
              <a:t>.Pay </a:t>
            </a:r>
            <a:r>
              <a:rPr lang="en-US" dirty="0"/>
              <a:t>Attention to </a:t>
            </a:r>
            <a:r>
              <a:rPr lang="en-US" b="1" dirty="0"/>
              <a:t>Elevator</a:t>
            </a:r>
            <a:r>
              <a:rPr lang="en-US" dirty="0"/>
              <a:t> Direction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3</a:t>
            </a:r>
            <a:r>
              <a:rPr lang="en-US" dirty="0" smtClean="0"/>
              <a:t>.Use Common Sense When Pressing Buttons 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 Protect </a:t>
            </a:r>
            <a:r>
              <a:rPr lang="en-US" dirty="0"/>
              <a:t>Personal </a:t>
            </a:r>
            <a:r>
              <a:rPr lang="en-US" dirty="0" smtClean="0"/>
              <a:t>Space</a:t>
            </a:r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b="1" dirty="0"/>
              <a:t>Make Way for Others to Exit as Needed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35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Door </a:t>
            </a:r>
            <a:r>
              <a:rPr lang="en-US" b="1" dirty="0" smtClean="0">
                <a:solidFill>
                  <a:srgbClr val="FF0000"/>
                </a:solidFill>
              </a:rPr>
              <a:t>Etiquette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194" name="Picture 2" descr="http://1.bp.blogspot.com/-V-QhIDwIWoU/TwOxza0F0iI/AAAAAAAAAJ8/sOExJb1Cz6w/s1600/web-53262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066924"/>
            <a:ext cx="5715000" cy="38004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Cubical </a:t>
            </a:r>
            <a:r>
              <a:rPr lang="en-US" b="1" dirty="0" smtClean="0">
                <a:solidFill>
                  <a:srgbClr val="FF0000"/>
                </a:solidFill>
              </a:rPr>
              <a:t>Etiquette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170" name="Picture 2" descr="http://uldissprogis.files.wordpress.com/2013/12/office-cubicle-etiquette.jpg?w=62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209800"/>
            <a:ext cx="4724400" cy="34482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2321</TotalTime>
  <Words>659</Words>
  <Application>Microsoft Office PowerPoint</Application>
  <PresentationFormat>On-screen Show (4:3)</PresentationFormat>
  <Paragraphs>106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Capture it</vt:lpstr>
      <vt:lpstr>Söhne</vt:lpstr>
      <vt:lpstr>Office Theme</vt:lpstr>
      <vt:lpstr>BUSINESS SKILLS</vt:lpstr>
      <vt:lpstr>BUSINESS COMMUNICATION</vt:lpstr>
      <vt:lpstr>CULTURE</vt:lpstr>
      <vt:lpstr>Why To understand Cultural Dimensions?</vt:lpstr>
      <vt:lpstr>Overall, culture is a fundamental aspect of human existence, shaping individuals' perceptions, values, and behaviors, and contributing to the richness and diversity of the world we live in.</vt:lpstr>
      <vt:lpstr> CULTURE</vt:lpstr>
      <vt:lpstr> Hofstede’s Cultural dimensions </vt:lpstr>
      <vt:lpstr>PowerPoint Presentation</vt:lpstr>
      <vt:lpstr> Milton Bennett  </vt:lpstr>
      <vt:lpstr>Case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ETIQUETTE</vt:lpstr>
      <vt:lpstr> What  is Business Etiquette? </vt:lpstr>
      <vt:lpstr>Case Study</vt:lpstr>
      <vt:lpstr>Business Etiquette in a Global Conference</vt:lpstr>
      <vt:lpstr>Challenges:</vt:lpstr>
      <vt:lpstr>PowerPoint Presentation</vt:lpstr>
      <vt:lpstr>PowerPoint Presentation</vt:lpstr>
      <vt:lpstr>Attire management</vt:lpstr>
      <vt:lpstr>First Impression</vt:lpstr>
      <vt:lpstr>VIDEO</vt:lpstr>
      <vt:lpstr>RULE OF 12</vt:lpstr>
      <vt:lpstr>First Talk</vt:lpstr>
      <vt:lpstr>Office Etiquette</vt:lpstr>
      <vt:lpstr>Telephone Etiquette</vt:lpstr>
      <vt:lpstr>PowerPoint Presentation</vt:lpstr>
      <vt:lpstr>DINNING ETIQUETTE</vt:lpstr>
      <vt:lpstr>Some Tips on Dinning Etiquette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Elevator Etiquette</vt:lpstr>
      <vt:lpstr>PowerPoint Presentation</vt:lpstr>
      <vt:lpstr>Door Etiquette</vt:lpstr>
      <vt:lpstr>Cubical Etiquette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ENRICHMENT.</dc:title>
  <dc:creator>Ananya</dc:creator>
  <cp:lastModifiedBy>admin</cp:lastModifiedBy>
  <cp:revision>131</cp:revision>
  <dcterms:created xsi:type="dcterms:W3CDTF">2018-01-11T02:45:42Z</dcterms:created>
  <dcterms:modified xsi:type="dcterms:W3CDTF">2025-12-07T05:15:13Z</dcterms:modified>
</cp:coreProperties>
</file>