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8" r:id="rId12"/>
    <p:sldId id="269" r:id="rId13"/>
    <p:sldId id="393" r:id="rId14"/>
    <p:sldId id="323" r:id="rId15"/>
    <p:sldId id="270" r:id="rId16"/>
    <p:sldId id="271" r:id="rId17"/>
    <p:sldId id="272" r:id="rId18"/>
    <p:sldId id="273" r:id="rId19"/>
    <p:sldId id="280" r:id="rId20"/>
    <p:sldId id="391" r:id="rId21"/>
    <p:sldId id="281" r:id="rId22"/>
    <p:sldId id="282" r:id="rId23"/>
    <p:sldId id="397" r:id="rId24"/>
    <p:sldId id="396" r:id="rId25"/>
    <p:sldId id="283" r:id="rId26"/>
    <p:sldId id="284" r:id="rId27"/>
    <p:sldId id="285" r:id="rId28"/>
    <p:sldId id="286" r:id="rId29"/>
    <p:sldId id="398" r:id="rId30"/>
    <p:sldId id="288" r:id="rId31"/>
    <p:sldId id="291" r:id="rId32"/>
    <p:sldId id="290" r:id="rId33"/>
    <p:sldId id="289" r:id="rId34"/>
    <p:sldId id="399" r:id="rId35"/>
    <p:sldId id="308" r:id="rId36"/>
    <p:sldId id="292" r:id="rId37"/>
    <p:sldId id="293" r:id="rId38"/>
    <p:sldId id="294" r:id="rId39"/>
    <p:sldId id="295" r:id="rId40"/>
    <p:sldId id="296" r:id="rId41"/>
    <p:sldId id="297" r:id="rId42"/>
    <p:sldId id="400" r:id="rId43"/>
    <p:sldId id="274" r:id="rId44"/>
    <p:sldId id="395" r:id="rId45"/>
    <p:sldId id="299" r:id="rId46"/>
    <p:sldId id="300" r:id="rId47"/>
    <p:sldId id="394" r:id="rId48"/>
    <p:sldId id="354" r:id="rId49"/>
    <p:sldId id="355" r:id="rId50"/>
    <p:sldId id="275" r:id="rId51"/>
    <p:sldId id="356" r:id="rId52"/>
    <p:sldId id="357" r:id="rId53"/>
    <p:sldId id="361" r:id="rId54"/>
    <p:sldId id="358" r:id="rId55"/>
    <p:sldId id="359" r:id="rId56"/>
    <p:sldId id="360" r:id="rId57"/>
    <p:sldId id="362" r:id="rId58"/>
    <p:sldId id="363" r:id="rId59"/>
    <p:sldId id="364" r:id="rId60"/>
    <p:sldId id="365" r:id="rId61"/>
    <p:sldId id="366" r:id="rId62"/>
    <p:sldId id="367" r:id="rId63"/>
    <p:sldId id="368" r:id="rId64"/>
    <p:sldId id="369" r:id="rId65"/>
    <p:sldId id="370" r:id="rId66"/>
    <p:sldId id="371" r:id="rId67"/>
    <p:sldId id="372" r:id="rId68"/>
    <p:sldId id="373" r:id="rId69"/>
    <p:sldId id="374" r:id="rId70"/>
    <p:sldId id="390" r:id="rId71"/>
    <p:sldId id="375" r:id="rId72"/>
    <p:sldId id="376" r:id="rId73"/>
    <p:sldId id="377" r:id="rId74"/>
    <p:sldId id="378" r:id="rId75"/>
    <p:sldId id="379" r:id="rId76"/>
    <p:sldId id="380" r:id="rId77"/>
    <p:sldId id="381" r:id="rId78"/>
    <p:sldId id="382" r:id="rId79"/>
    <p:sldId id="383" r:id="rId80"/>
    <p:sldId id="384" r:id="rId81"/>
    <p:sldId id="385" r:id="rId82"/>
    <p:sldId id="386" r:id="rId83"/>
    <p:sldId id="387" r:id="rId84"/>
    <p:sldId id="388" r:id="rId85"/>
    <p:sldId id="389" r:id="rId86"/>
    <p:sldId id="276" r:id="rId87"/>
    <p:sldId id="277" r:id="rId88"/>
    <p:sldId id="278" r:id="rId89"/>
    <p:sldId id="279" r:id="rId9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77" autoAdjust="0"/>
    <p:restoredTop sz="94660"/>
  </p:normalViewPr>
  <p:slideViewPr>
    <p:cSldViewPr>
      <p:cViewPr varScale="1">
        <p:scale>
          <a:sx n="83" d="100"/>
          <a:sy n="83" d="100"/>
        </p:scale>
        <p:origin x="1498" y="6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0CC3EDD-4488-4964-98A1-7CCB48C63A1E}"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F9CB59-A30E-46E8-BA93-CB06415C189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CC3EDD-4488-4964-98A1-7CCB48C63A1E}"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F9CB59-A30E-46E8-BA93-CB06415C189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0CC3EDD-4488-4964-98A1-7CCB48C63A1E}"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F9CB59-A30E-46E8-BA93-CB06415C189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0CC3EDD-4488-4964-98A1-7CCB48C63A1E}"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F9CB59-A30E-46E8-BA93-CB06415C189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0CC3EDD-4488-4964-98A1-7CCB48C63A1E}" type="datetimeFigureOut">
              <a:rPr lang="en-US" smtClean="0"/>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FF9CB59-A30E-46E8-BA93-CB06415C189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0CC3EDD-4488-4964-98A1-7CCB48C63A1E}" type="datetimeFigureOut">
              <a:rPr lang="en-US" smtClean="0"/>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F9CB59-A30E-46E8-BA93-CB06415C189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CC3EDD-4488-4964-98A1-7CCB48C63A1E}" type="datetimeFigureOut">
              <a:rPr lang="en-US" smtClean="0"/>
              <a:t>12/15/2025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FF9CB59-A30E-46E8-BA93-CB06415C189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CC3EDD-4488-4964-98A1-7CCB48C63A1E}"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F9CB59-A30E-46E8-BA93-CB06415C189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CC3EDD-4488-4964-98A1-7CCB48C63A1E}"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F9CB59-A30E-46E8-BA93-CB06415C189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CC3EDD-4488-4964-98A1-7CCB48C63A1E}"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F9CB59-A30E-46E8-BA93-CB06415C189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CC3EDD-4488-4964-98A1-7CCB48C63A1E}"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F9CB59-A30E-46E8-BA93-CB06415C189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CC3EDD-4488-4964-98A1-7CCB48C63A1E}" type="datetimeFigureOut">
              <a:rPr lang="en-US" smtClean="0"/>
              <a:t>12/15/2025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F9CB59-A30E-46E8-BA93-CB06415C189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r>
              <a:rPr lang="en-US" dirty="0" smtClean="0"/>
              <a:t>INTERVIEW SKILLS</a:t>
            </a:r>
            <a:endParaRPr lang="en-US"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6800" y="2209800"/>
            <a:ext cx="6976533" cy="392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normAutofit/>
          </a:bodyPr>
          <a:lstStyle/>
          <a:p>
            <a:r>
              <a:rPr lang="en-US" dirty="0" smtClean="0"/>
              <a:t>What do you mean by interview?</a:t>
            </a:r>
            <a:endParaRPr lang="en-US"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a:bodyPr>
          <a:lstStyle/>
          <a:p>
            <a:pPr>
              <a:buNone/>
            </a:pPr>
            <a:r>
              <a:rPr lang="en-US" sz="3200" dirty="0" smtClean="0"/>
              <a:t> It’s a chance for you to get to know each other and find out whether there is a good fit of</a:t>
            </a:r>
          </a:p>
          <a:p>
            <a:pPr>
              <a:buFont typeface="Wingdings" panose="05000000000000000000" pitchFamily="2" charset="2"/>
              <a:buChar char="q"/>
            </a:pPr>
            <a:r>
              <a:rPr lang="en-US" sz="3200" dirty="0" smtClean="0"/>
              <a:t> Knowledge and skills </a:t>
            </a:r>
          </a:p>
          <a:p>
            <a:pPr>
              <a:buFont typeface="Wingdings" panose="05000000000000000000" pitchFamily="2" charset="2"/>
              <a:buChar char="q"/>
            </a:pPr>
            <a:r>
              <a:rPr lang="en-US" sz="3200" dirty="0" smtClean="0"/>
              <a:t> Experience</a:t>
            </a:r>
          </a:p>
          <a:p>
            <a:pPr>
              <a:buFont typeface="Wingdings" panose="05000000000000000000" pitchFamily="2" charset="2"/>
              <a:buChar char="q"/>
            </a:pPr>
            <a:r>
              <a:rPr lang="en-US" sz="3200" dirty="0" smtClean="0"/>
              <a:t> Attitude(Someone who is genuinely interested in the company and who they think will fit in with the culture and team)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amond(in)">
                                      <p:cBhvr>
                                        <p:cTn id="13" dur="10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8" presetClass="entr" presetSubtype="16"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diamond(in)">
                                      <p:cBhvr>
                                        <p:cTn id="18"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dk1"/>
          </a:lnRef>
          <a:fillRef idx="2">
            <a:schemeClr val="dk1"/>
          </a:fillRef>
          <a:effectRef idx="1">
            <a:schemeClr val="dk1"/>
          </a:effectRef>
          <a:fontRef idx="minor">
            <a:schemeClr val="dk1"/>
          </a:fontRef>
        </p:style>
        <p:txBody>
          <a:bodyPr/>
          <a:lstStyle/>
          <a:p>
            <a:r>
              <a:rPr lang="en-US" dirty="0" smtClean="0"/>
              <a:t>INTERVIEW</a:t>
            </a:r>
            <a:endParaRPr lang="en-US"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fontScale="92500" lnSpcReduction="20000"/>
          </a:bodyPr>
          <a:lstStyle/>
          <a:p>
            <a:r>
              <a:rPr lang="en-US" dirty="0" smtClean="0"/>
              <a:t>I – Build on your </a:t>
            </a:r>
            <a:r>
              <a:rPr lang="en-US" b="1" dirty="0" smtClean="0"/>
              <a:t>Intelligence</a:t>
            </a:r>
          </a:p>
          <a:p>
            <a:r>
              <a:rPr lang="en-US" dirty="0" smtClean="0"/>
              <a:t>N – </a:t>
            </a:r>
            <a:r>
              <a:rPr lang="en-US" b="1" dirty="0" smtClean="0"/>
              <a:t>Natural </a:t>
            </a:r>
            <a:r>
              <a:rPr lang="en-US" dirty="0" smtClean="0"/>
              <a:t>is best</a:t>
            </a:r>
          </a:p>
          <a:p>
            <a:r>
              <a:rPr lang="en-US" dirty="0" smtClean="0"/>
              <a:t>T – Tell the </a:t>
            </a:r>
            <a:r>
              <a:rPr lang="en-US" b="1" dirty="0" smtClean="0"/>
              <a:t>Truth</a:t>
            </a:r>
          </a:p>
          <a:p>
            <a:r>
              <a:rPr lang="en-US" dirty="0" smtClean="0"/>
              <a:t>E – </a:t>
            </a:r>
            <a:r>
              <a:rPr lang="en-US" b="1" dirty="0" smtClean="0"/>
              <a:t>Engage </a:t>
            </a:r>
            <a:r>
              <a:rPr lang="en-US" dirty="0" smtClean="0"/>
              <a:t>your panel</a:t>
            </a:r>
            <a:r>
              <a:rPr lang="en-US" b="1" dirty="0" smtClean="0"/>
              <a:t> </a:t>
            </a:r>
          </a:p>
          <a:p>
            <a:r>
              <a:rPr lang="en-US" dirty="0" smtClean="0"/>
              <a:t>R  </a:t>
            </a:r>
            <a:r>
              <a:rPr lang="en-US" b="1" dirty="0" smtClean="0"/>
              <a:t>- Relate </a:t>
            </a:r>
            <a:r>
              <a:rPr lang="en-US" dirty="0" smtClean="0"/>
              <a:t>at a personal level</a:t>
            </a:r>
          </a:p>
          <a:p>
            <a:r>
              <a:rPr lang="en-US" dirty="0" smtClean="0"/>
              <a:t>V -  </a:t>
            </a:r>
            <a:r>
              <a:rPr lang="en-US" b="1" dirty="0" smtClean="0"/>
              <a:t>Values </a:t>
            </a:r>
            <a:r>
              <a:rPr lang="en-US" dirty="0" smtClean="0"/>
              <a:t>make you who you are</a:t>
            </a:r>
          </a:p>
          <a:p>
            <a:r>
              <a:rPr lang="en-US" dirty="0" smtClean="0"/>
              <a:t>I – </a:t>
            </a:r>
            <a:r>
              <a:rPr lang="en-US" b="1" dirty="0" smtClean="0"/>
              <a:t>Imagination </a:t>
            </a:r>
            <a:r>
              <a:rPr lang="en-US" dirty="0" smtClean="0"/>
              <a:t>adds a little spice</a:t>
            </a:r>
          </a:p>
          <a:p>
            <a:r>
              <a:rPr lang="en-US" dirty="0" smtClean="0"/>
              <a:t>E – </a:t>
            </a:r>
            <a:r>
              <a:rPr lang="en-US" b="1" dirty="0" smtClean="0"/>
              <a:t>Eagerness </a:t>
            </a:r>
            <a:r>
              <a:rPr lang="en-US" dirty="0" smtClean="0"/>
              <a:t>to belong</a:t>
            </a:r>
          </a:p>
          <a:p>
            <a:r>
              <a:rPr lang="en-US" dirty="0" smtClean="0"/>
              <a:t>W – </a:t>
            </a:r>
            <a:r>
              <a:rPr lang="en-US" b="1" dirty="0" smtClean="0"/>
              <a:t>Wow </a:t>
            </a:r>
            <a:r>
              <a:rPr lang="en-US" dirty="0" smtClean="0"/>
              <a:t>effect</a:t>
            </a:r>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304800" y="304800"/>
            <a:ext cx="8534400" cy="944562"/>
          </a:xfrm>
        </p:spPr>
        <p:style>
          <a:lnRef idx="2">
            <a:schemeClr val="dk1"/>
          </a:lnRef>
          <a:fillRef idx="1">
            <a:schemeClr val="lt1"/>
          </a:fillRef>
          <a:effectRef idx="0">
            <a:schemeClr val="dk1"/>
          </a:effectRef>
          <a:fontRef idx="minor">
            <a:schemeClr val="dk1"/>
          </a:fontRef>
        </p:style>
        <p:txBody>
          <a:bodyPr>
            <a:normAutofit/>
          </a:bodyPr>
          <a:lstStyle/>
          <a:p>
            <a:pPr eaLnBrk="1" hangingPunct="1"/>
            <a:r>
              <a:rPr lang="en-US" sz="4000" b="1" dirty="0" smtClean="0">
                <a:latin typeface="Verdana" panose="020B0604030504040204" pitchFamily="34" charset="0"/>
              </a:rPr>
              <a:t>Facing an Interview</a:t>
            </a:r>
          </a:p>
        </p:txBody>
      </p:sp>
      <p:pic>
        <p:nvPicPr>
          <p:cNvPr id="13315" name="Picture 3" descr="clip0008"/>
          <p:cNvPicPr>
            <a:picLocks noGrp="1" noChangeAspect="1" noChangeArrowheads="1"/>
          </p:cNvPicPr>
          <p:nvPr>
            <p:ph sz="quarter" idx="1"/>
          </p:nvPr>
        </p:nvPicPr>
        <p:blipFill>
          <a:blip r:embed="rId2"/>
          <a:srcRect/>
          <a:stretch>
            <a:fillRect/>
          </a:stretch>
        </p:blipFill>
        <p:spPr>
          <a:xfrm>
            <a:off x="1773238" y="2409825"/>
            <a:ext cx="5832475" cy="2876550"/>
          </a:xfr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r>
              <a:rPr lang="en-US" dirty="0" smtClean="0"/>
              <a:t>   It’s time to sell yourself</a:t>
            </a:r>
            <a:endParaRPr lang="en-US" dirty="0"/>
          </a:p>
        </p:txBody>
      </p:sp>
      <p:sp>
        <p:nvSpPr>
          <p:cNvPr id="3" name="Content Placeholder 2"/>
          <p:cNvSpPr>
            <a:spLocks noGrp="1"/>
          </p:cNvSpPr>
          <p:nvPr>
            <p:ph idx="1"/>
          </p:nvPr>
        </p:nvSpPr>
        <p:spPr/>
        <p:txBody>
          <a:bodyPr/>
          <a:lstStyle/>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pPr>
              <a:buNone/>
            </a:pPr>
            <a:endParaRPr lang="en-US" dirty="0"/>
          </a:p>
        </p:txBody>
      </p:sp>
      <p:pic>
        <p:nvPicPr>
          <p:cNvPr id="123906" name="Picture 2" descr="http://www.w3bly.com/wp-content/uploads/2010/07/selling-yourself.jpg"/>
          <p:cNvPicPr>
            <a:picLocks noChangeAspect="1" noChangeArrowheads="1"/>
          </p:cNvPicPr>
          <p:nvPr/>
        </p:nvPicPr>
        <p:blipFill>
          <a:blip r:embed="rId2"/>
          <a:srcRect/>
          <a:stretch>
            <a:fillRect/>
          </a:stretch>
        </p:blipFill>
        <p:spPr bwMode="auto">
          <a:xfrm>
            <a:off x="1447800" y="1981200"/>
            <a:ext cx="5715000" cy="3581400"/>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66800"/>
            <a:ext cx="8229600" cy="1143000"/>
          </a:xfrm>
        </p:spPr>
        <p:style>
          <a:lnRef idx="2">
            <a:schemeClr val="dk1"/>
          </a:lnRef>
          <a:fillRef idx="1">
            <a:schemeClr val="lt1"/>
          </a:fillRef>
          <a:effectRef idx="0">
            <a:schemeClr val="dk1"/>
          </a:effectRef>
          <a:fontRef idx="minor">
            <a:schemeClr val="dk1"/>
          </a:fontRef>
        </p:style>
        <p:txBody>
          <a:bodyPr/>
          <a:lstStyle/>
          <a:p>
            <a:r>
              <a:rPr lang="en-US" dirty="0" smtClean="0"/>
              <a:t> TYPES OF INTERVIEWS</a:t>
            </a:r>
            <a:endParaRPr lang="en-US" dirty="0"/>
          </a:p>
        </p:txBody>
      </p:sp>
      <p:sp>
        <p:nvSpPr>
          <p:cNvPr id="3" name="Content Placeholder 2"/>
          <p:cNvSpPr>
            <a:spLocks noGrp="1"/>
          </p:cNvSpPr>
          <p:nvPr>
            <p:ph idx="1"/>
          </p:nvPr>
        </p:nvSpPr>
        <p:spPr>
          <a:xfrm>
            <a:off x="457200" y="2895600"/>
            <a:ext cx="8229600" cy="2667000"/>
          </a:xfrm>
        </p:spPr>
        <p:style>
          <a:lnRef idx="2">
            <a:schemeClr val="dk1"/>
          </a:lnRef>
          <a:fillRef idx="1">
            <a:schemeClr val="lt1"/>
          </a:fillRef>
          <a:effectRef idx="0">
            <a:schemeClr val="dk1"/>
          </a:effectRef>
          <a:fontRef idx="minor">
            <a:schemeClr val="dk1"/>
          </a:fontRef>
        </p:style>
        <p:txBody>
          <a:bodyPr/>
          <a:lstStyle/>
          <a:p>
            <a:pPr marL="533400" indent="-533400">
              <a:buFont typeface="Wingdings" panose="05000000000000000000" pitchFamily="2" charset="2"/>
              <a:buChar char="q"/>
            </a:pPr>
            <a:r>
              <a:rPr lang="en-US" sz="3200" dirty="0" smtClean="0">
                <a:solidFill>
                  <a:schemeClr val="accent2"/>
                </a:solidFill>
                <a:latin typeface="Calibri" panose="020F0502020204030204" pitchFamily="34" charset="0"/>
              </a:rPr>
              <a:t>One-to-one Interview </a:t>
            </a:r>
          </a:p>
          <a:p>
            <a:pPr marL="533400" indent="-533400">
              <a:buFont typeface="Wingdings" panose="05000000000000000000" pitchFamily="2" charset="2"/>
              <a:buChar char="q"/>
            </a:pPr>
            <a:r>
              <a:rPr lang="en-US" sz="3200" dirty="0" smtClean="0">
                <a:solidFill>
                  <a:schemeClr val="accent2"/>
                </a:solidFill>
                <a:latin typeface="Calibri" panose="020F0502020204030204" pitchFamily="34" charset="0"/>
              </a:rPr>
              <a:t>Telephonic Interview</a:t>
            </a:r>
          </a:p>
          <a:p>
            <a:pPr marL="533400" indent="-533400">
              <a:buFont typeface="Wingdings" panose="05000000000000000000" pitchFamily="2" charset="2"/>
              <a:buChar char="q"/>
            </a:pPr>
            <a:r>
              <a:rPr lang="en-US" sz="3200" dirty="0" smtClean="0">
                <a:solidFill>
                  <a:schemeClr val="accent2"/>
                </a:solidFill>
                <a:latin typeface="Calibri" panose="020F0502020204030204" pitchFamily="34" charset="0"/>
              </a:rPr>
              <a:t>Videoconference Interview</a:t>
            </a:r>
          </a:p>
          <a:p>
            <a:pPr marL="533400" indent="-533400">
              <a:buFont typeface="Wingdings" panose="05000000000000000000" pitchFamily="2" charset="2"/>
              <a:buChar char="q"/>
            </a:pPr>
            <a:r>
              <a:rPr lang="en-US" sz="3200" dirty="0" smtClean="0">
                <a:solidFill>
                  <a:schemeClr val="accent2"/>
                </a:solidFill>
                <a:latin typeface="Calibri" panose="020F0502020204030204" pitchFamily="34" charset="0"/>
              </a:rPr>
              <a:t>Group/Panel Interview</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1000"/>
                                        <p:tgtEl>
                                          <p:spTgt spid="3">
                                            <p:bg/>
                                          </p:spTgt>
                                        </p:tgtEl>
                                      </p:cBhvr>
                                    </p:animEffect>
                                    <p:anim calcmode="lin" valueType="num">
                                      <p:cBhvr>
                                        <p:cTn id="8" dur="1000" fill="hold"/>
                                        <p:tgtEl>
                                          <p:spTgt spid="3">
                                            <p:bg/>
                                          </p:spTgt>
                                        </p:tgtEl>
                                        <p:attrNameLst>
                                          <p:attrName>ppt_x</p:attrName>
                                        </p:attrNameLst>
                                      </p:cBhvr>
                                      <p:tavLst>
                                        <p:tav tm="0">
                                          <p:val>
                                            <p:strVal val="#ppt_x"/>
                                          </p:val>
                                        </p:tav>
                                        <p:tav tm="100000">
                                          <p:val>
                                            <p:strVal val="#ppt_x"/>
                                          </p:val>
                                        </p:tav>
                                      </p:tavLst>
                                    </p:anim>
                                    <p:anim calcmode="lin" valueType="num">
                                      <p:cBhvr>
                                        <p:cTn id="9"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dk1"/>
          </a:lnRef>
          <a:fillRef idx="2">
            <a:schemeClr val="dk1"/>
          </a:fillRef>
          <a:effectRef idx="1">
            <a:schemeClr val="dk1"/>
          </a:effectRef>
          <a:fontRef idx="minor">
            <a:schemeClr val="dk1"/>
          </a:fontRef>
        </p:style>
        <p:txBody>
          <a:bodyPr>
            <a:normAutofit fontScale="90000"/>
          </a:bodyPr>
          <a:lstStyle/>
          <a:p>
            <a:r>
              <a:rPr lang="en-US" dirty="0" smtClean="0"/>
              <a:t>3 STEPS FORMULA TO CRACK AN INTERVIEW</a:t>
            </a:r>
            <a:endParaRPr lang="en-US" dirty="0"/>
          </a:p>
        </p:txBody>
      </p:sp>
      <p:sp>
        <p:nvSpPr>
          <p:cNvPr id="4" name="Rounded Rectangle 3"/>
          <p:cNvSpPr/>
          <p:nvPr/>
        </p:nvSpPr>
        <p:spPr>
          <a:xfrm>
            <a:off x="27709" y="3124200"/>
            <a:ext cx="2971800" cy="14478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2400" dirty="0" smtClean="0"/>
              <a:t>BEFORE THE INTERVIEW</a:t>
            </a:r>
            <a:endParaRPr lang="en-US" sz="2400" dirty="0"/>
          </a:p>
        </p:txBody>
      </p:sp>
      <p:sp>
        <p:nvSpPr>
          <p:cNvPr id="5" name="Rounded Rectangle 4"/>
          <p:cNvSpPr/>
          <p:nvPr/>
        </p:nvSpPr>
        <p:spPr>
          <a:xfrm>
            <a:off x="3034145" y="3141518"/>
            <a:ext cx="2971800" cy="1447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DURING THE INTERVIEW</a:t>
            </a:r>
            <a:endParaRPr lang="en-US" sz="2400" dirty="0"/>
          </a:p>
        </p:txBody>
      </p:sp>
      <p:sp>
        <p:nvSpPr>
          <p:cNvPr id="6" name="Rounded Rectangle 5"/>
          <p:cNvSpPr/>
          <p:nvPr/>
        </p:nvSpPr>
        <p:spPr>
          <a:xfrm>
            <a:off x="6005945" y="3141518"/>
            <a:ext cx="2971800" cy="14478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2400" dirty="0" smtClean="0"/>
              <a:t>AFTER THE INTERVIEW</a:t>
            </a:r>
            <a:endParaRPr lang="en-US" sz="2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6"/>
          </a:fillRef>
          <a:effectRef idx="1">
            <a:schemeClr val="accent6"/>
          </a:effectRef>
          <a:fontRef idx="minor">
            <a:schemeClr val="lt1"/>
          </a:fontRef>
        </p:style>
        <p:txBody>
          <a:bodyPr>
            <a:normAutofit/>
          </a:bodyPr>
          <a:lstStyle/>
          <a:p>
            <a:r>
              <a:rPr lang="en-US" sz="5400" dirty="0" smtClean="0"/>
              <a:t>BEFORE THE INTERVIEW</a:t>
            </a:r>
            <a:endParaRPr lang="en-US" sz="5400"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lnSpcReduction="10000"/>
          </a:bodyPr>
          <a:lstStyle/>
          <a:p>
            <a:pPr marL="0" indent="0">
              <a:buNone/>
            </a:pPr>
            <a:r>
              <a:rPr lang="en-US" sz="2800" dirty="0" smtClean="0"/>
              <a:t>1. </a:t>
            </a:r>
            <a:r>
              <a:rPr lang="en-US" dirty="0" smtClean="0"/>
              <a:t>Understanding </a:t>
            </a:r>
            <a:r>
              <a:rPr lang="en-US" dirty="0"/>
              <a:t>Job </a:t>
            </a:r>
            <a:r>
              <a:rPr lang="en-US" dirty="0" smtClean="0"/>
              <a:t>Opportunities</a:t>
            </a:r>
          </a:p>
          <a:p>
            <a:pPr marL="0" indent="0">
              <a:buNone/>
            </a:pPr>
            <a:r>
              <a:rPr lang="en-US" dirty="0" smtClean="0"/>
              <a:t>2. Researching the </a:t>
            </a:r>
            <a:r>
              <a:rPr lang="en-US" dirty="0"/>
              <a:t>Company </a:t>
            </a:r>
            <a:r>
              <a:rPr lang="en-US" dirty="0" smtClean="0"/>
              <a:t>and Job</a:t>
            </a:r>
          </a:p>
          <a:p>
            <a:pPr marL="0" indent="0">
              <a:buNone/>
            </a:pPr>
            <a:r>
              <a:rPr lang="en-US" dirty="0" smtClean="0"/>
              <a:t>3. Practice technical and non technical questions</a:t>
            </a:r>
          </a:p>
          <a:p>
            <a:pPr marL="0" indent="0">
              <a:buNone/>
            </a:pPr>
            <a:r>
              <a:rPr lang="en-US" dirty="0" smtClean="0"/>
              <a:t>4. Update your resume</a:t>
            </a:r>
          </a:p>
          <a:p>
            <a:pPr marL="0" indent="0">
              <a:buNone/>
            </a:pPr>
            <a:r>
              <a:rPr lang="en-US" dirty="0" smtClean="0"/>
              <a:t>5. Collect all relevant documents</a:t>
            </a:r>
          </a:p>
          <a:p>
            <a:pPr marL="0" indent="0">
              <a:buNone/>
            </a:pPr>
            <a:r>
              <a:rPr lang="en-US" dirty="0" smtClean="0"/>
              <a:t>6. Calculate time required to reach the destination</a:t>
            </a:r>
          </a:p>
          <a:p>
            <a:pPr marL="0" indent="0">
              <a:buNone/>
            </a:pPr>
            <a:r>
              <a:rPr lang="en-US" dirty="0" smtClean="0"/>
              <a:t>7. Grooming and Dressing </a:t>
            </a:r>
          </a:p>
          <a:p>
            <a:pPr marL="0" indent="0">
              <a:buNone/>
            </a:pPr>
            <a:endParaRPr lang="en-US" dirty="0" smtClean="0"/>
          </a:p>
          <a:p>
            <a:pPr marL="514350" indent="-514350">
              <a:buAutoNum type="arabicPeriod" startAt="3"/>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6"/>
          </a:fillRef>
          <a:effectRef idx="1">
            <a:schemeClr val="accent6"/>
          </a:effectRef>
          <a:fontRef idx="minor">
            <a:schemeClr val="lt1"/>
          </a:fontRef>
        </p:style>
        <p:txBody>
          <a:bodyPr/>
          <a:lstStyle/>
          <a:p>
            <a:r>
              <a:rPr lang="en-US" dirty="0" smtClean="0"/>
              <a:t>DURING THE INTERVIEW</a:t>
            </a:r>
            <a:endParaRPr lang="en-US"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pPr marL="514350" indent="-514350">
              <a:buAutoNum type="arabicPeriod"/>
            </a:pPr>
            <a:r>
              <a:rPr lang="en-US" dirty="0" smtClean="0"/>
              <a:t>Ensure consistency in your responses</a:t>
            </a:r>
          </a:p>
          <a:p>
            <a:pPr marL="514350" indent="-514350">
              <a:buAutoNum type="arabicPeriod"/>
            </a:pPr>
            <a:r>
              <a:rPr lang="en-US" dirty="0" smtClean="0"/>
              <a:t>Mind your Manners</a:t>
            </a:r>
          </a:p>
          <a:p>
            <a:pPr marL="514350" indent="-514350">
              <a:buAutoNum type="arabicPeriod"/>
            </a:pPr>
            <a:r>
              <a:rPr lang="en-US" dirty="0" smtClean="0"/>
              <a:t>Take charge of body language ( eye contact, gestures, postures, handshake)</a:t>
            </a:r>
          </a:p>
          <a:p>
            <a:pPr marL="514350" indent="-514350">
              <a:buAutoNum type="arabicPeriod"/>
            </a:pPr>
            <a:r>
              <a:rPr lang="en-US" dirty="0" smtClean="0"/>
              <a:t>Avoid repetition words ( actually, basically, typically, normally)</a:t>
            </a:r>
          </a:p>
          <a:p>
            <a:pPr marL="514350" indent="-514350">
              <a:buAutoNum type="arabicPeriod"/>
            </a:pPr>
            <a:r>
              <a:rPr lang="en-US" dirty="0" smtClean="0"/>
              <a:t>Reflect confidence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arn(inVertical)">
                                      <p:cBhvr>
                                        <p:cTn id="13" dur="500"/>
                                        <p:tgtEl>
                                          <p:spTgt spid="3">
                                            <p:txEl>
                                              <p:pRg st="2" end="2"/>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arn(inVertical)">
                                      <p:cBhvr>
                                        <p:cTn id="16" dur="500"/>
                                        <p:tgtEl>
                                          <p:spTgt spid="3">
                                            <p:txEl>
                                              <p:pRg st="3" end="3"/>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arn(inVertical)">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85800" y="1143000"/>
            <a:ext cx="7772400" cy="1470025"/>
          </a:xfrm>
        </p:spPr>
        <p:style>
          <a:lnRef idx="1">
            <a:schemeClr val="dk1"/>
          </a:lnRef>
          <a:fillRef idx="2">
            <a:schemeClr val="dk1"/>
          </a:fillRef>
          <a:effectRef idx="1">
            <a:schemeClr val="dk1"/>
          </a:effectRef>
          <a:fontRef idx="minor">
            <a:schemeClr val="dk1"/>
          </a:fontRef>
        </p:style>
        <p:txBody>
          <a:bodyPr/>
          <a:lstStyle/>
          <a:p>
            <a:pPr algn="ctr"/>
            <a:r>
              <a:rPr lang="en-US" dirty="0" smtClean="0"/>
              <a:t>How to Answer toughest questions</a:t>
            </a:r>
            <a:endParaRPr lang="en-US" dirty="0"/>
          </a:p>
        </p:txBody>
      </p:sp>
      <p:pic>
        <p:nvPicPr>
          <p:cNvPr id="1026" name="Picture 2" descr="https://s3.amazonaws.com/fjwp/blog/wp-content/uploads/2018/12/06135025/4DifficultQuestions.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47800" y="3276600"/>
            <a:ext cx="6248400" cy="3124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Take me through your CV?</a:t>
            </a:r>
            <a:endParaRPr lang="en-US" dirty="0"/>
          </a:p>
        </p:txBody>
      </p:sp>
      <p:pic>
        <p:nvPicPr>
          <p:cNvPr id="17410" name="Picture 2" descr="http://image.slidesharecdn.com/interviewskills-130405043407-phpapp01/95/slide-2-638.jpg?1367396960"/>
          <p:cNvPicPr>
            <a:picLocks noChangeAspect="1" noChangeArrowheads="1"/>
          </p:cNvPicPr>
          <p:nvPr/>
        </p:nvPicPr>
        <p:blipFill>
          <a:blip r:embed="rId2"/>
          <a:srcRect/>
          <a:stretch>
            <a:fillRect/>
          </a:stretch>
        </p:blipFill>
        <p:spPr bwMode="auto">
          <a:xfrm>
            <a:off x="457200" y="1524000"/>
            <a:ext cx="8229600" cy="4562476"/>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pPr marL="514350" indent="-514350"/>
            <a:r>
              <a:rPr lang="en-US" dirty="0"/>
              <a:t>TAKE ME THROUGH YOUR CV?</a:t>
            </a:r>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lnSpcReduction="10000"/>
          </a:bodyPr>
          <a:lstStyle/>
          <a:p>
            <a:pPr>
              <a:buNone/>
            </a:pPr>
            <a:r>
              <a:rPr lang="en-US" dirty="0" smtClean="0"/>
              <a:t>Greeting with thank you statement</a:t>
            </a:r>
          </a:p>
          <a:p>
            <a:pPr>
              <a:buNone/>
            </a:pPr>
            <a:r>
              <a:rPr lang="en-US" dirty="0" smtClean="0"/>
              <a:t>Name</a:t>
            </a:r>
          </a:p>
          <a:p>
            <a:pPr>
              <a:buNone/>
            </a:pPr>
            <a:r>
              <a:rPr lang="en-US" dirty="0" smtClean="0"/>
              <a:t>Location</a:t>
            </a:r>
          </a:p>
          <a:p>
            <a:pPr>
              <a:buNone/>
            </a:pPr>
            <a:r>
              <a:rPr lang="en-US" dirty="0" smtClean="0"/>
              <a:t>Highest qualification, with MBA ( why MBA)</a:t>
            </a:r>
          </a:p>
          <a:p>
            <a:pPr>
              <a:buNone/>
            </a:pPr>
            <a:r>
              <a:rPr lang="en-US" dirty="0" smtClean="0"/>
              <a:t>Professional certificate course ( optional )</a:t>
            </a:r>
          </a:p>
          <a:p>
            <a:pPr>
              <a:buNone/>
            </a:pPr>
            <a:r>
              <a:rPr lang="en-US" dirty="0" smtClean="0"/>
              <a:t>Experience/project in detail</a:t>
            </a:r>
          </a:p>
          <a:p>
            <a:pPr>
              <a:buNone/>
            </a:pPr>
            <a:r>
              <a:rPr lang="en-US" dirty="0" smtClean="0"/>
              <a:t>Skills  achieved through experience / project</a:t>
            </a:r>
          </a:p>
          <a:p>
            <a:pPr>
              <a:buNone/>
            </a:pPr>
            <a:r>
              <a:rPr lang="en-US" dirty="0" smtClean="0"/>
              <a:t>Giving a confidence of doing a job</a:t>
            </a:r>
          </a:p>
          <a:p>
            <a:pPr>
              <a:buNone/>
            </a:pP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pPr marL="514350" indent="-514350"/>
            <a:r>
              <a:rPr lang="en-US" dirty="0"/>
              <a:t>TAKE ME THROUGH YOUR CV</a:t>
            </a:r>
            <a:r>
              <a:rPr lang="en-US" dirty="0" smtClean="0"/>
              <a:t>? ( IT)</a:t>
            </a:r>
            <a:endParaRPr lang="en-US"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lnSpcReduction="10000"/>
          </a:bodyPr>
          <a:lstStyle/>
          <a:p>
            <a:pPr>
              <a:buNone/>
            </a:pPr>
            <a:r>
              <a:rPr lang="en-US" dirty="0" smtClean="0"/>
              <a:t>Greeting with thank you statement</a:t>
            </a:r>
          </a:p>
          <a:p>
            <a:pPr>
              <a:buNone/>
            </a:pPr>
            <a:r>
              <a:rPr lang="en-US" dirty="0" smtClean="0"/>
              <a:t>Name</a:t>
            </a:r>
          </a:p>
          <a:p>
            <a:pPr>
              <a:buNone/>
            </a:pPr>
            <a:r>
              <a:rPr lang="en-US" dirty="0" smtClean="0"/>
              <a:t>Location</a:t>
            </a:r>
          </a:p>
          <a:p>
            <a:pPr>
              <a:buNone/>
            </a:pPr>
            <a:r>
              <a:rPr lang="en-US" dirty="0" smtClean="0"/>
              <a:t>Highest qualification  + experience</a:t>
            </a:r>
          </a:p>
          <a:p>
            <a:pPr>
              <a:buNone/>
            </a:pPr>
            <a:r>
              <a:rPr lang="en-US" dirty="0" smtClean="0"/>
              <a:t>Professional certificate course</a:t>
            </a:r>
          </a:p>
          <a:p>
            <a:pPr>
              <a:buNone/>
            </a:pPr>
            <a:r>
              <a:rPr lang="en-US" dirty="0" smtClean="0"/>
              <a:t>Experience/project in detail</a:t>
            </a:r>
          </a:p>
          <a:p>
            <a:pPr>
              <a:buNone/>
            </a:pPr>
            <a:r>
              <a:rPr lang="en-US" dirty="0" smtClean="0"/>
              <a:t>Skills  achieved through experience / project</a:t>
            </a:r>
          </a:p>
          <a:p>
            <a:pPr>
              <a:buNone/>
            </a:pPr>
            <a:r>
              <a:rPr lang="en-US" dirty="0" smtClean="0"/>
              <a:t>Giving a confidence of doing a job</a:t>
            </a:r>
          </a:p>
          <a:p>
            <a:pPr>
              <a:buNone/>
            </a:pPr>
            <a:endParaRPr lang="en-US" dirty="0"/>
          </a:p>
        </p:txBody>
      </p:sp>
    </p:spTree>
    <p:extLst>
      <p:ext uri="{BB962C8B-B14F-4D97-AF65-F5344CB8AC3E}">
        <p14:creationId xmlns:p14="http://schemas.microsoft.com/office/powerpoint/2010/main" val="150808049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r>
              <a:rPr lang="en-IN" altLang="en-US" dirty="0"/>
              <a:t>My Answer</a:t>
            </a:r>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fontScale="70000" lnSpcReduction="20000"/>
          </a:bodyPr>
          <a:lstStyle/>
          <a:p>
            <a:pPr marL="0" indent="0">
              <a:buNone/>
            </a:pPr>
            <a:r>
              <a:rPr lang="en-US" dirty="0" smtClean="0"/>
              <a:t>Sir / madam, I thank you for the time and opportunity given. My name is Sukrut Patwardhan. I am from Pune. I have successfully completed my Graduation in electronics and telecommunication and  technical certification from ITP which is 6 months course. The training course includes C language, UX UI, </a:t>
            </a:r>
            <a:r>
              <a:rPr lang="en-US" dirty="0" err="1" smtClean="0"/>
              <a:t>sql</a:t>
            </a:r>
            <a:r>
              <a:rPr lang="en-US" dirty="0" smtClean="0"/>
              <a:t> , </a:t>
            </a:r>
            <a:r>
              <a:rPr lang="en-US" dirty="0" err="1" smtClean="0"/>
              <a:t>plsql</a:t>
            </a:r>
            <a:r>
              <a:rPr lang="en-US" dirty="0" smtClean="0"/>
              <a:t> and specialization in java we worked on the projects and now confident to work on technologies.      </a:t>
            </a:r>
            <a:r>
              <a:rPr lang="en-US" dirty="0" smtClean="0">
                <a:solidFill>
                  <a:srgbClr val="FF0000"/>
                </a:solidFill>
              </a:rPr>
              <a:t>.( Sir, madam, I did some research in IT industry and if you see now a days IT is the foundation of most of the industries which creates opportunities, growth. Now a days we have to use the technology for automation for any project management)  </a:t>
            </a:r>
            <a:r>
              <a:rPr lang="en-US" dirty="0" smtClean="0"/>
              <a:t>Based on my overall training I have 2 skills which are important to start my IT career. i.e. Analytical skills and assertive attitude. I would like to take this opportunity to confirm that if given an opportunity, I can add value in your organization and can become an asset of your organization</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71800"/>
            <a:ext cx="8229600" cy="1143000"/>
          </a:xfrm>
        </p:spPr>
        <p:style>
          <a:lnRef idx="2">
            <a:schemeClr val="dk1"/>
          </a:lnRef>
          <a:fillRef idx="1">
            <a:schemeClr val="lt1"/>
          </a:fillRef>
          <a:effectRef idx="0">
            <a:schemeClr val="dk1"/>
          </a:effectRef>
          <a:fontRef idx="minor">
            <a:schemeClr val="dk1"/>
          </a:fontRef>
        </p:style>
        <p:txBody>
          <a:bodyPr>
            <a:normAutofit fontScale="90000"/>
          </a:bodyPr>
          <a:lstStyle/>
          <a:p>
            <a:pPr marL="514350" indent="-514350"/>
            <a:r>
              <a:rPr lang="en-US" dirty="0"/>
              <a:t>TELL ME ABOUT YOUR FAMILY BACKGROUND?</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normAutofit fontScale="90000"/>
          </a:bodyPr>
          <a:lstStyle/>
          <a:p>
            <a:pPr marL="514350" indent="-514350"/>
            <a:r>
              <a:rPr lang="en-US" dirty="0"/>
              <a:t>GIVE ME YOUR STRENGTH AND WEAKNESS?</a:t>
            </a:r>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pPr>
              <a:buNone/>
            </a:pPr>
            <a:r>
              <a:rPr lang="en-US" dirty="0" smtClean="0"/>
              <a:t>   My strengths are creativity, punctuality. My weakness is stress level.  (I think taking stress is my nature….which I have reduced) so I have completed hypnosis program to overcome my weakness and I am constantly working on it.</a:t>
            </a:r>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600" dirty="0" smtClean="0"/>
              <a:t>List of strengths and weaknesses</a:t>
            </a:r>
            <a:endParaRPr lang="en-US" sz="3600" dirty="0"/>
          </a:p>
        </p:txBody>
      </p:sp>
      <p:graphicFrame>
        <p:nvGraphicFramePr>
          <p:cNvPr id="4" name="Content Placeholder 3"/>
          <p:cNvGraphicFramePr>
            <a:graphicFrameLocks noGrp="1"/>
          </p:cNvGraphicFramePr>
          <p:nvPr>
            <p:ph idx="1"/>
          </p:nvPr>
        </p:nvGraphicFramePr>
        <p:xfrm>
          <a:off x="304800" y="1599883"/>
          <a:ext cx="8229600" cy="445008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40">
                <a:tc>
                  <a:txBody>
                    <a:bodyPr/>
                    <a:lstStyle/>
                    <a:p>
                      <a:pPr algn="ctr"/>
                      <a:r>
                        <a:rPr lang="en-US" dirty="0" smtClean="0"/>
                        <a:t>Strengths</a:t>
                      </a:r>
                      <a:endParaRPr lang="en-US" dirty="0"/>
                    </a:p>
                  </a:txBody>
                  <a:tcPr/>
                </a:tc>
                <a:tc>
                  <a:txBody>
                    <a:bodyPr/>
                    <a:lstStyle/>
                    <a:p>
                      <a:pPr algn="ctr"/>
                      <a:r>
                        <a:rPr lang="en-US" dirty="0" smtClean="0"/>
                        <a:t>Weaknesses</a:t>
                      </a:r>
                      <a:endParaRPr lang="en-US" dirty="0"/>
                    </a:p>
                  </a:txBody>
                  <a:tcPr/>
                </a:tc>
                <a:extLst>
                  <a:ext uri="{0D108BD9-81ED-4DB2-BD59-A6C34878D82A}">
                    <a16:rowId xmlns:a16="http://schemas.microsoft.com/office/drawing/2014/main" val="10000"/>
                  </a:ext>
                </a:extLst>
              </a:tr>
              <a:tr h="370840">
                <a:tc>
                  <a:txBody>
                    <a:bodyPr/>
                    <a:lstStyle/>
                    <a:p>
                      <a:r>
                        <a:rPr lang="en-US" dirty="0" smtClean="0"/>
                        <a:t>Self  starter</a:t>
                      </a:r>
                      <a:endParaRPr lang="en-US" dirty="0"/>
                    </a:p>
                  </a:txBody>
                  <a:tcPr/>
                </a:tc>
                <a:tc>
                  <a:txBody>
                    <a:bodyPr/>
                    <a:lstStyle/>
                    <a:p>
                      <a:r>
                        <a:rPr lang="en-US" dirty="0" smtClean="0"/>
                        <a:t>Aggressive</a:t>
                      </a:r>
                      <a:endParaRPr lang="en-US" dirty="0"/>
                    </a:p>
                  </a:txBody>
                  <a:tcPr/>
                </a:tc>
                <a:extLst>
                  <a:ext uri="{0D108BD9-81ED-4DB2-BD59-A6C34878D82A}">
                    <a16:rowId xmlns:a16="http://schemas.microsoft.com/office/drawing/2014/main" val="10001"/>
                  </a:ext>
                </a:extLst>
              </a:tr>
              <a:tr h="370840">
                <a:tc>
                  <a:txBody>
                    <a:bodyPr/>
                    <a:lstStyle/>
                    <a:p>
                      <a:r>
                        <a:rPr lang="en-US" dirty="0" smtClean="0"/>
                        <a:t>Enthusiastic</a:t>
                      </a:r>
                      <a:endParaRPr lang="en-US" dirty="0"/>
                    </a:p>
                  </a:txBody>
                  <a:tcPr/>
                </a:tc>
                <a:tc>
                  <a:txBody>
                    <a:bodyPr/>
                    <a:lstStyle/>
                    <a:p>
                      <a:r>
                        <a:rPr lang="en-US" dirty="0" smtClean="0"/>
                        <a:t>Inconsistent</a:t>
                      </a:r>
                      <a:endParaRPr lang="en-US" dirty="0"/>
                    </a:p>
                  </a:txBody>
                  <a:tcPr/>
                </a:tc>
                <a:extLst>
                  <a:ext uri="{0D108BD9-81ED-4DB2-BD59-A6C34878D82A}">
                    <a16:rowId xmlns:a16="http://schemas.microsoft.com/office/drawing/2014/main" val="10002"/>
                  </a:ext>
                </a:extLst>
              </a:tr>
              <a:tr h="370840">
                <a:tc>
                  <a:txBody>
                    <a:bodyPr/>
                    <a:lstStyle/>
                    <a:p>
                      <a:r>
                        <a:rPr lang="en-US" dirty="0"/>
                        <a:t>punctual</a:t>
                      </a:r>
                    </a:p>
                  </a:txBody>
                  <a:tcPr/>
                </a:tc>
                <a:tc>
                  <a:txBody>
                    <a:bodyPr/>
                    <a:lstStyle/>
                    <a:p>
                      <a:r>
                        <a:rPr lang="en-US" dirty="0" smtClean="0"/>
                        <a:t>Bad time management</a:t>
                      </a:r>
                      <a:endParaRPr lang="en-US" dirty="0"/>
                    </a:p>
                  </a:txBody>
                  <a:tcPr/>
                </a:tc>
                <a:extLst>
                  <a:ext uri="{0D108BD9-81ED-4DB2-BD59-A6C34878D82A}">
                    <a16:rowId xmlns:a16="http://schemas.microsoft.com/office/drawing/2014/main" val="10003"/>
                  </a:ext>
                </a:extLst>
              </a:tr>
              <a:tr h="370840">
                <a:tc>
                  <a:txBody>
                    <a:bodyPr/>
                    <a:lstStyle/>
                    <a:p>
                      <a:r>
                        <a:rPr lang="en-US" dirty="0" smtClean="0"/>
                        <a:t>Confidence</a:t>
                      </a:r>
                      <a:endParaRPr lang="en-US" dirty="0"/>
                    </a:p>
                  </a:txBody>
                  <a:tcPr/>
                </a:tc>
                <a:tc>
                  <a:txBody>
                    <a:bodyPr/>
                    <a:lstStyle/>
                    <a:p>
                      <a:r>
                        <a:rPr lang="en-US" dirty="0" smtClean="0"/>
                        <a:t>Not focused</a:t>
                      </a:r>
                      <a:endParaRPr lang="en-US" dirty="0"/>
                    </a:p>
                  </a:txBody>
                  <a:tcPr/>
                </a:tc>
                <a:extLst>
                  <a:ext uri="{0D108BD9-81ED-4DB2-BD59-A6C34878D82A}">
                    <a16:rowId xmlns:a16="http://schemas.microsoft.com/office/drawing/2014/main" val="10004"/>
                  </a:ext>
                </a:extLst>
              </a:tr>
              <a:tr h="370840">
                <a:tc>
                  <a:txBody>
                    <a:bodyPr/>
                    <a:lstStyle/>
                    <a:p>
                      <a:r>
                        <a:rPr lang="en-US" dirty="0" smtClean="0"/>
                        <a:t>Creative</a:t>
                      </a:r>
                      <a:endParaRPr lang="en-US" dirty="0"/>
                    </a:p>
                  </a:txBody>
                  <a:tcPr/>
                </a:tc>
                <a:tc>
                  <a:txBody>
                    <a:bodyPr/>
                    <a:lstStyle/>
                    <a:p>
                      <a:r>
                        <a:rPr lang="en-US" dirty="0" smtClean="0"/>
                        <a:t>Short</a:t>
                      </a:r>
                      <a:r>
                        <a:rPr lang="en-US" baseline="0" dirty="0" smtClean="0"/>
                        <a:t> tempered</a:t>
                      </a:r>
                      <a:endParaRPr lang="en-US" dirty="0"/>
                    </a:p>
                  </a:txBody>
                  <a:tcPr/>
                </a:tc>
                <a:extLst>
                  <a:ext uri="{0D108BD9-81ED-4DB2-BD59-A6C34878D82A}">
                    <a16:rowId xmlns:a16="http://schemas.microsoft.com/office/drawing/2014/main" val="10005"/>
                  </a:ext>
                </a:extLst>
              </a:tr>
              <a:tr h="370840">
                <a:tc>
                  <a:txBody>
                    <a:bodyPr/>
                    <a:lstStyle/>
                    <a:p>
                      <a:r>
                        <a:rPr lang="en-US" dirty="0" smtClean="0"/>
                        <a:t>Flexible</a:t>
                      </a:r>
                      <a:endParaRPr lang="en-US" dirty="0"/>
                    </a:p>
                  </a:txBody>
                  <a:tcPr/>
                </a:tc>
                <a:tc>
                  <a:txBody>
                    <a:bodyPr/>
                    <a:lstStyle/>
                    <a:p>
                      <a:r>
                        <a:rPr lang="en-US" dirty="0" smtClean="0"/>
                        <a:t>Very emotional</a:t>
                      </a:r>
                      <a:endParaRPr lang="en-US" dirty="0"/>
                    </a:p>
                  </a:txBody>
                  <a:tcPr/>
                </a:tc>
                <a:extLst>
                  <a:ext uri="{0D108BD9-81ED-4DB2-BD59-A6C34878D82A}">
                    <a16:rowId xmlns:a16="http://schemas.microsoft.com/office/drawing/2014/main" val="10006"/>
                  </a:ext>
                </a:extLst>
              </a:tr>
              <a:tr h="370840">
                <a:tc>
                  <a:txBody>
                    <a:bodyPr/>
                    <a:lstStyle/>
                    <a:p>
                      <a:r>
                        <a:rPr lang="en-US" dirty="0"/>
                        <a:t>dedication</a:t>
                      </a:r>
                    </a:p>
                  </a:txBody>
                  <a:tcPr/>
                </a:tc>
                <a:tc>
                  <a:txBody>
                    <a:bodyPr/>
                    <a:lstStyle/>
                    <a:p>
                      <a:r>
                        <a:rPr lang="en-US" dirty="0" smtClean="0"/>
                        <a:t>Less confident</a:t>
                      </a:r>
                      <a:endParaRPr lang="en-US" dirty="0"/>
                    </a:p>
                  </a:txBody>
                  <a:tcPr/>
                </a:tc>
                <a:extLst>
                  <a:ext uri="{0D108BD9-81ED-4DB2-BD59-A6C34878D82A}">
                    <a16:rowId xmlns:a16="http://schemas.microsoft.com/office/drawing/2014/main" val="10007"/>
                  </a:ext>
                </a:extLst>
              </a:tr>
              <a:tr h="370840">
                <a:tc>
                  <a:txBody>
                    <a:bodyPr/>
                    <a:lstStyle/>
                    <a:p>
                      <a:r>
                        <a:rPr lang="en-US" dirty="0" smtClean="0"/>
                        <a:t>Sincere</a:t>
                      </a:r>
                      <a:endParaRPr lang="en-US" dirty="0"/>
                    </a:p>
                  </a:txBody>
                  <a:tcPr/>
                </a:tc>
                <a:tc>
                  <a:txBody>
                    <a:bodyPr/>
                    <a:lstStyle/>
                    <a:p>
                      <a:r>
                        <a:rPr lang="en-US" dirty="0"/>
                        <a:t>lazy</a:t>
                      </a:r>
                    </a:p>
                  </a:txBody>
                  <a:tcPr/>
                </a:tc>
                <a:extLst>
                  <a:ext uri="{0D108BD9-81ED-4DB2-BD59-A6C34878D82A}">
                    <a16:rowId xmlns:a16="http://schemas.microsoft.com/office/drawing/2014/main" val="10008"/>
                  </a:ext>
                </a:extLst>
              </a:tr>
              <a:tr h="370840">
                <a:tc>
                  <a:txBody>
                    <a:bodyPr/>
                    <a:lstStyle/>
                    <a:p>
                      <a:r>
                        <a:rPr lang="en-US" dirty="0" smtClean="0"/>
                        <a:t>Honest</a:t>
                      </a:r>
                      <a:endParaRPr lang="en-US" dirty="0"/>
                    </a:p>
                  </a:txBody>
                  <a:tcPr/>
                </a:tc>
                <a:tc>
                  <a:txBody>
                    <a:bodyPr/>
                    <a:lstStyle/>
                    <a:p>
                      <a:r>
                        <a:rPr lang="en-US" dirty="0" smtClean="0"/>
                        <a:t>Workaholic</a:t>
                      </a:r>
                      <a:endParaRPr lang="en-US" dirty="0"/>
                    </a:p>
                  </a:txBody>
                  <a:tcPr/>
                </a:tc>
                <a:extLst>
                  <a:ext uri="{0D108BD9-81ED-4DB2-BD59-A6C34878D82A}">
                    <a16:rowId xmlns:a16="http://schemas.microsoft.com/office/drawing/2014/main" val="10009"/>
                  </a:ext>
                </a:extLst>
              </a:tr>
              <a:tr h="370840">
                <a:tc>
                  <a:txBody>
                    <a:bodyPr/>
                    <a:lstStyle/>
                    <a:p>
                      <a:r>
                        <a:rPr lang="en-US" dirty="0" smtClean="0"/>
                        <a:t>Hardworking</a:t>
                      </a:r>
                      <a:endParaRPr lang="en-US" dirty="0"/>
                    </a:p>
                  </a:txBody>
                  <a:tcPr/>
                </a:tc>
                <a:tc>
                  <a:txBody>
                    <a:bodyPr/>
                    <a:lstStyle/>
                    <a:p>
                      <a:r>
                        <a:rPr lang="en-US" dirty="0" smtClean="0"/>
                        <a:t>Not creative</a:t>
                      </a:r>
                      <a:endParaRPr lang="en-US" dirty="0"/>
                    </a:p>
                  </a:txBody>
                  <a:tcPr/>
                </a:tc>
                <a:extLst>
                  <a:ext uri="{0D108BD9-81ED-4DB2-BD59-A6C34878D82A}">
                    <a16:rowId xmlns:a16="http://schemas.microsoft.com/office/drawing/2014/main" val="10010"/>
                  </a:ext>
                </a:extLst>
              </a:tr>
              <a:tr h="370840">
                <a:tc>
                  <a:txBody>
                    <a:bodyPr/>
                    <a:lstStyle/>
                    <a:p>
                      <a:r>
                        <a:rPr lang="en-US" dirty="0" smtClean="0"/>
                        <a:t>Friendly</a:t>
                      </a:r>
                      <a:endParaRPr lang="en-US" dirty="0"/>
                    </a:p>
                  </a:txBody>
                  <a:tcPr/>
                </a:tc>
                <a:tc>
                  <a:txBody>
                    <a:bodyPr/>
                    <a:lstStyle/>
                    <a:p>
                      <a:r>
                        <a:rPr lang="en-US" dirty="0" smtClean="0"/>
                        <a:t>Bad handwriting</a:t>
                      </a:r>
                      <a:endParaRPr lang="en-US" dirty="0"/>
                    </a:p>
                  </a:txBody>
                  <a:tcPr/>
                </a:tc>
                <a:extLst>
                  <a:ext uri="{0D108BD9-81ED-4DB2-BD59-A6C34878D82A}">
                    <a16:rowId xmlns:a16="http://schemas.microsoft.com/office/drawing/2014/main" val="10011"/>
                  </a:ext>
                </a:extLst>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895600"/>
            <a:ext cx="8915400" cy="990600"/>
          </a:xfrm>
        </p:spPr>
        <p:style>
          <a:lnRef idx="2">
            <a:schemeClr val="dk1"/>
          </a:lnRef>
          <a:fillRef idx="1">
            <a:schemeClr val="lt1"/>
          </a:fillRef>
          <a:effectRef idx="0">
            <a:schemeClr val="dk1"/>
          </a:effectRef>
          <a:fontRef idx="minor">
            <a:schemeClr val="dk1"/>
          </a:fontRef>
        </p:style>
        <p:txBody>
          <a:bodyPr>
            <a:noAutofit/>
          </a:bodyPr>
          <a:lstStyle/>
          <a:p>
            <a:pPr algn="l"/>
            <a:r>
              <a:rPr lang="en-US" sz="3600" dirty="0" smtClean="0"/>
              <a:t/>
            </a:r>
            <a:br>
              <a:rPr lang="en-US" sz="3600" dirty="0" smtClean="0"/>
            </a:br>
            <a:r>
              <a:rPr lang="en-US" sz="3600" dirty="0" smtClean="0"/>
              <a:t>WHAT </a:t>
            </a:r>
            <a:r>
              <a:rPr lang="en-US" sz="3600" dirty="0"/>
              <a:t>DO YOU KNOW ABOUT OUR COMPNAY?</a:t>
            </a:r>
            <a:br>
              <a:rPr lang="en-US" sz="3600" dirty="0"/>
            </a:br>
            <a:endParaRPr lang="en-US" sz="36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r>
              <a:rPr lang="en-US"/>
              <a:t>Answer</a:t>
            </a:r>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r>
              <a:rPr lang="en-US"/>
              <a:t>About Us</a:t>
            </a:r>
          </a:p>
          <a:p>
            <a:r>
              <a:rPr lang="en-US"/>
              <a:t>Leadership Team</a:t>
            </a:r>
          </a:p>
          <a:p>
            <a:r>
              <a:rPr lang="en-US"/>
              <a:t>Product and services</a:t>
            </a:r>
          </a:p>
          <a:p>
            <a:r>
              <a:rPr lang="en-US"/>
              <a:t>CSR </a:t>
            </a:r>
          </a:p>
          <a:p>
            <a:r>
              <a:rPr lang="en-US"/>
              <a:t>Locations</a:t>
            </a:r>
          </a:p>
          <a:p>
            <a:r>
              <a:rPr lang="en-US"/>
              <a:t>Vision, mission and values</a:t>
            </a:r>
          </a:p>
          <a:p>
            <a:r>
              <a:rPr lang="en-US"/>
              <a:t>Year of establishment</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r>
              <a:rPr lang="en-US" dirty="0" smtClean="0"/>
              <a:t>Why IT?</a:t>
            </a:r>
            <a:endParaRPr lang="en-IN"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fontScale="77500" lnSpcReduction="20000"/>
          </a:bodyPr>
          <a:lstStyle/>
          <a:p>
            <a:r>
              <a:rPr lang="en-US" dirty="0"/>
              <a:t>Technology and Automation </a:t>
            </a:r>
            <a:r>
              <a:rPr lang="en-US" dirty="0" smtClean="0"/>
              <a:t>are </a:t>
            </a:r>
            <a:r>
              <a:rPr lang="en-US" dirty="0"/>
              <a:t>the need of an </a:t>
            </a:r>
            <a:r>
              <a:rPr lang="en-US" dirty="0" smtClean="0"/>
              <a:t>hour</a:t>
            </a:r>
          </a:p>
          <a:p>
            <a:r>
              <a:rPr lang="en-US" dirty="0"/>
              <a:t>The Indian technology and IT industry was projected to grow at around 5.1% in FY2025, reaching about $282.6 billion in total revenue (including services, products, hardware). </a:t>
            </a:r>
          </a:p>
          <a:p>
            <a:r>
              <a:rPr lang="en-US" dirty="0"/>
              <a:t>NASSCOM expects the sector to cross the $300 billion mark in FY2026 — roughly a 6% increase over FY2025 figures.</a:t>
            </a:r>
            <a:endParaRPr lang="en-US" dirty="0" smtClean="0"/>
          </a:p>
          <a:p>
            <a:r>
              <a:rPr lang="en-US" dirty="0" smtClean="0"/>
              <a:t>A </a:t>
            </a:r>
            <a:r>
              <a:rPr lang="en-US" dirty="0"/>
              <a:t>Variety of Career </a:t>
            </a:r>
            <a:r>
              <a:rPr lang="en-US" dirty="0" smtClean="0"/>
              <a:t>Opportunities ( </a:t>
            </a:r>
            <a:r>
              <a:rPr lang="en-IN" dirty="0" smtClean="0"/>
              <a:t>Data Scientists, Artificial </a:t>
            </a:r>
            <a:r>
              <a:rPr lang="en-IN" dirty="0"/>
              <a:t>Intelligence </a:t>
            </a:r>
            <a:r>
              <a:rPr lang="en-IN" dirty="0" smtClean="0"/>
              <a:t>Professionals, Cyber </a:t>
            </a:r>
            <a:r>
              <a:rPr lang="en-IN" dirty="0"/>
              <a:t>Security </a:t>
            </a:r>
            <a:r>
              <a:rPr lang="en-IN" dirty="0" smtClean="0"/>
              <a:t>Professionals, Machine </a:t>
            </a:r>
            <a:r>
              <a:rPr lang="en-IN" dirty="0"/>
              <a:t>Learning </a:t>
            </a:r>
            <a:r>
              <a:rPr lang="en-IN" dirty="0" smtClean="0"/>
              <a:t>Professionals, Full </a:t>
            </a:r>
            <a:r>
              <a:rPr lang="en-IN" dirty="0"/>
              <a:t>Stack </a:t>
            </a:r>
            <a:r>
              <a:rPr lang="en-IN" dirty="0" smtClean="0"/>
              <a:t>Developers, Cloud </a:t>
            </a:r>
            <a:r>
              <a:rPr lang="en-IN" dirty="0"/>
              <a:t>Computing </a:t>
            </a:r>
            <a:r>
              <a:rPr lang="en-IN" dirty="0" smtClean="0"/>
              <a:t>Professionals, Software Engineers, </a:t>
            </a:r>
            <a:r>
              <a:rPr lang="en-IN" dirty="0" err="1" smtClean="0"/>
              <a:t>DevOps</a:t>
            </a:r>
            <a:r>
              <a:rPr lang="en-IN" dirty="0" smtClean="0"/>
              <a:t> Engineer. </a:t>
            </a:r>
            <a:endParaRPr lang="en-US" dirty="0" smtClean="0"/>
          </a:p>
          <a:p>
            <a:endParaRPr lang="en-IN" dirty="0"/>
          </a:p>
        </p:txBody>
      </p:sp>
    </p:spTree>
    <p:extLst>
      <p:ext uri="{BB962C8B-B14F-4D97-AF65-F5344CB8AC3E}">
        <p14:creationId xmlns:p14="http://schemas.microsoft.com/office/powerpoint/2010/main" val="2482817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 calcmode="lin" valueType="num">
                                      <p:cBhvr additive="base">
                                        <p:cTn id="7" dur="500" fill="hold"/>
                                        <p:tgtEl>
                                          <p:spTgt spid="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3">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r>
              <a:rPr lang="en-US" dirty="0" smtClean="0"/>
              <a:t>Why MBA?</a:t>
            </a:r>
            <a:endParaRPr lang="en-IN"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pPr marL="0" indent="0">
              <a:buNone/>
            </a:pPr>
            <a:r>
              <a:rPr lang="en-US" dirty="0"/>
              <a:t>1. Develop advanced and flexible management skills</a:t>
            </a:r>
          </a:p>
          <a:p>
            <a:pPr marL="0" indent="0">
              <a:buNone/>
            </a:pPr>
            <a:r>
              <a:rPr lang="en-US" dirty="0"/>
              <a:t>2. A lot of MBA specializations to fit your exact goals</a:t>
            </a:r>
          </a:p>
          <a:p>
            <a:pPr marL="0" indent="0">
              <a:buNone/>
            </a:pPr>
            <a:r>
              <a:rPr lang="en-US" dirty="0"/>
              <a:t>3. Access to an extensive business network</a:t>
            </a:r>
          </a:p>
          <a:p>
            <a:pPr marL="0" indent="0">
              <a:buNone/>
            </a:pPr>
            <a:r>
              <a:rPr lang="en-US" dirty="0"/>
              <a:t>4. MBA salaries are some of the highest on the job market</a:t>
            </a:r>
          </a:p>
          <a:p>
            <a:pPr marL="0" indent="0">
              <a:buNone/>
            </a:pPr>
            <a:r>
              <a:rPr lang="en-US" dirty="0"/>
              <a:t>5. Start your own company from scratch</a:t>
            </a:r>
          </a:p>
          <a:p>
            <a:pPr marL="0" indent="0">
              <a:buNone/>
            </a:pP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MBA?</a:t>
            </a:r>
            <a:endParaRPr lang="en-IN"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pPr marL="0" indent="0">
              <a:buNone/>
            </a:pPr>
            <a:r>
              <a:rPr lang="en-US" dirty="0"/>
              <a:t>6. MBAs are great for a career change and thriving business opportunities</a:t>
            </a:r>
          </a:p>
          <a:p>
            <a:pPr marL="0" indent="0">
              <a:buNone/>
            </a:pPr>
            <a:r>
              <a:rPr lang="en-US" dirty="0"/>
              <a:t>7. Study excellent MBAs all over the </a:t>
            </a:r>
            <a:r>
              <a:rPr lang="en-US" dirty="0" smtClean="0"/>
              <a:t>world</a:t>
            </a:r>
          </a:p>
          <a:p>
            <a:pPr marL="0" indent="0">
              <a:buNone/>
            </a:pPr>
            <a:r>
              <a:rPr lang="en-US" dirty="0" smtClean="0"/>
              <a:t>8. </a:t>
            </a:r>
            <a:r>
              <a:rPr lang="en-IN" dirty="0"/>
              <a:t>Earning Credibility</a:t>
            </a:r>
          </a:p>
          <a:p>
            <a:pPr marL="0" indent="0">
              <a:buNone/>
            </a:pPr>
            <a:r>
              <a:rPr lang="en-US" dirty="0" smtClean="0"/>
              <a:t>9. </a:t>
            </a:r>
            <a:r>
              <a:rPr lang="en-IN" dirty="0"/>
              <a:t>Developing a broader perspective</a:t>
            </a:r>
          </a:p>
          <a:p>
            <a:pPr marL="0" indent="0">
              <a:buNone/>
            </a:pPr>
            <a:r>
              <a:rPr lang="en-US" dirty="0" smtClean="0"/>
              <a:t>10. </a:t>
            </a:r>
            <a:r>
              <a:rPr lang="en-US" dirty="0"/>
              <a:t>Enhancing your knowledge and skills</a:t>
            </a:r>
          </a:p>
          <a:p>
            <a:pPr marL="0" indent="0">
              <a:buNone/>
            </a:pPr>
            <a:endParaRPr lang="en-US" dirty="0" smtClean="0"/>
          </a:p>
          <a:p>
            <a:pPr marL="0" indent="0">
              <a:buNone/>
            </a:pPr>
            <a:endParaRPr lang="en-US" dirty="0"/>
          </a:p>
          <a:p>
            <a:pPr marL="0" indent="0">
              <a:buNone/>
            </a:pP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r>
              <a:rPr lang="en-US" dirty="0" smtClean="0"/>
              <a:t>WHY MBA</a:t>
            </a:r>
            <a:endParaRPr lang="en-IN"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pPr marL="0" indent="0">
              <a:buNone/>
            </a:pPr>
            <a:r>
              <a:rPr lang="en-US" dirty="0" smtClean="0"/>
              <a:t>After graduation I wanted to expand my career towards specialization. It also gives an opportunity to master management skills. It gives me the understanding of business dimensions which helps me to create global opportunities and growth. So I decided to complete my MBA with specialization in Marketing. </a:t>
            </a:r>
            <a:endParaRPr lang="en-IN" dirty="0"/>
          </a:p>
        </p:txBody>
      </p:sp>
    </p:spTree>
    <p:extLst>
      <p:ext uri="{BB962C8B-B14F-4D97-AF65-F5344CB8AC3E}">
        <p14:creationId xmlns:p14="http://schemas.microsoft.com/office/powerpoint/2010/main" val="4088648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r>
              <a:rPr lang="en-US" dirty="0" smtClean="0"/>
              <a:t>Top Sectors</a:t>
            </a:r>
            <a:endParaRPr lang="en-IN"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r>
              <a:rPr lang="en-US" dirty="0"/>
              <a:t>Healthcare and Insurance Sector. ...</a:t>
            </a:r>
          </a:p>
          <a:p>
            <a:r>
              <a:rPr lang="en-US" dirty="0"/>
              <a:t>Renewable Energy Sector. ...</a:t>
            </a:r>
          </a:p>
          <a:p>
            <a:r>
              <a:rPr lang="en-US" dirty="0"/>
              <a:t>IT Sector. ...</a:t>
            </a:r>
          </a:p>
          <a:p>
            <a:r>
              <a:rPr lang="en-US" dirty="0"/>
              <a:t>Real Estate Sector. ...</a:t>
            </a:r>
          </a:p>
          <a:p>
            <a:r>
              <a:rPr lang="en-US" dirty="0"/>
              <a:t>Fast-Moving Consumer-Goods Sector (FMCG) </a:t>
            </a:r>
          </a:p>
          <a:p>
            <a:r>
              <a:rPr lang="en-US" dirty="0"/>
              <a:t>Automobile Sector.</a:t>
            </a:r>
          </a:p>
          <a:p>
            <a:endParaRPr lang="en-IN" dirty="0"/>
          </a:p>
        </p:txBody>
      </p:sp>
    </p:spTree>
    <p:extLst>
      <p:ext uri="{BB962C8B-B14F-4D97-AF65-F5344CB8AC3E}">
        <p14:creationId xmlns:p14="http://schemas.microsoft.com/office/powerpoint/2010/main" val="104057242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Marketing?</a:t>
            </a:r>
            <a:endParaRPr lang="en-IN" dirty="0"/>
          </a:p>
        </p:txBody>
      </p:sp>
      <p:sp>
        <p:nvSpPr>
          <p:cNvPr id="3" name="Content Placeholder 2"/>
          <p:cNvSpPr>
            <a:spLocks noGrp="1"/>
          </p:cNvSpPr>
          <p:nvPr>
            <p:ph idx="1"/>
          </p:nvPr>
        </p:nvSpPr>
        <p:spPr/>
        <p:txBody>
          <a:bodyPr/>
          <a:lstStyle/>
          <a:p>
            <a:r>
              <a:rPr lang="en-US" dirty="0" smtClean="0"/>
              <a:t>Great Career Opportunities</a:t>
            </a:r>
            <a:endParaRPr lang="en-IN" dirty="0"/>
          </a:p>
        </p:txBody>
      </p:sp>
      <p:pic>
        <p:nvPicPr>
          <p:cNvPr id="1026" name="Picture 2" descr="Marketing as a career - the best opportuniti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229802"/>
            <a:ext cx="6400800" cy="43805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Marketing </a:t>
            </a:r>
            <a:r>
              <a:rPr lang="en-US" b="1" dirty="0"/>
              <a:t>is a versatile field</a:t>
            </a:r>
            <a:br>
              <a:rPr lang="en-US" b="1" dirty="0"/>
            </a:br>
            <a:endParaRPr lang="en-IN" dirty="0"/>
          </a:p>
        </p:txBody>
      </p:sp>
      <p:sp>
        <p:nvSpPr>
          <p:cNvPr id="3" name="Content Placeholder 2"/>
          <p:cNvSpPr>
            <a:spLocks noGrp="1"/>
          </p:cNvSpPr>
          <p:nvPr>
            <p:ph idx="1"/>
          </p:nvPr>
        </p:nvSpPr>
        <p:spPr/>
        <p:txBody>
          <a:bodyPr>
            <a:normAutofit lnSpcReduction="10000"/>
          </a:bodyPr>
          <a:lstStyle/>
          <a:p>
            <a:pPr fontAlgn="base"/>
            <a:r>
              <a:rPr lang="en-US" dirty="0"/>
              <a:t>Law</a:t>
            </a:r>
          </a:p>
          <a:p>
            <a:pPr fontAlgn="base"/>
            <a:r>
              <a:rPr lang="en-US" dirty="0"/>
              <a:t>Healthcare</a:t>
            </a:r>
          </a:p>
          <a:p>
            <a:pPr fontAlgn="base"/>
            <a:r>
              <a:rPr lang="en-US" dirty="0"/>
              <a:t>Technology</a:t>
            </a:r>
          </a:p>
          <a:p>
            <a:pPr fontAlgn="base"/>
            <a:r>
              <a:rPr lang="en-US" dirty="0"/>
              <a:t>Real Estate</a:t>
            </a:r>
          </a:p>
          <a:p>
            <a:pPr fontAlgn="base"/>
            <a:r>
              <a:rPr lang="en-US" dirty="0"/>
              <a:t>Entertainment</a:t>
            </a:r>
          </a:p>
          <a:p>
            <a:pPr fontAlgn="base"/>
            <a:r>
              <a:rPr lang="en-US" dirty="0"/>
              <a:t>Education</a:t>
            </a:r>
          </a:p>
          <a:p>
            <a:pPr fontAlgn="base"/>
            <a:r>
              <a:rPr lang="en-US" dirty="0"/>
              <a:t>Food</a:t>
            </a:r>
          </a:p>
          <a:p>
            <a:pPr fontAlgn="base"/>
            <a:r>
              <a:rPr lang="en-US" dirty="0"/>
              <a:t>Retail</a:t>
            </a:r>
          </a:p>
          <a:p>
            <a:endParaRPr lang="en-IN"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
            </a:r>
            <a:br>
              <a:rPr lang="en-IN" b="1" dirty="0" smtClean="0"/>
            </a:br>
            <a:r>
              <a:rPr lang="en-IN" b="1" dirty="0" smtClean="0"/>
              <a:t>Marketing </a:t>
            </a:r>
            <a:r>
              <a:rPr lang="en-IN" b="1" dirty="0"/>
              <a:t>is dynamic</a:t>
            </a:r>
            <a:br>
              <a:rPr lang="en-IN" b="1" dirty="0"/>
            </a:br>
            <a:endParaRPr lang="en-IN" dirty="0"/>
          </a:p>
        </p:txBody>
      </p:sp>
      <p:sp>
        <p:nvSpPr>
          <p:cNvPr id="5" name="AutoShape 4" descr="7 Career Paths for Today's SEO Specialists | Study Hub"/>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6" name="AutoShape 6" descr="7 Career Paths for Today's SEO Specialists | Study Hub"/>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pic>
        <p:nvPicPr>
          <p:cNvPr id="7" name="Picture 6"/>
          <p:cNvPicPr>
            <a:picLocks noChangeAspect="1"/>
          </p:cNvPicPr>
          <p:nvPr/>
        </p:nvPicPr>
        <p:blipFill>
          <a:blip r:embed="rId2"/>
          <a:stretch>
            <a:fillRect/>
          </a:stretch>
        </p:blipFill>
        <p:spPr>
          <a:xfrm>
            <a:off x="612775" y="1905000"/>
            <a:ext cx="8177605" cy="4191000"/>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A </a:t>
            </a:r>
            <a:r>
              <a:rPr lang="en-US" b="1" dirty="0"/>
              <a:t>Marketing MBA Will Expand Your Business Knowledge</a:t>
            </a:r>
            <a:br>
              <a:rPr lang="en-US" b="1" dirty="0"/>
            </a:br>
            <a:endParaRPr lang="en-IN"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r>
              <a:rPr lang="en-US" dirty="0" smtClean="0"/>
              <a:t>Economics</a:t>
            </a:r>
            <a:endParaRPr lang="en-US" dirty="0"/>
          </a:p>
          <a:p>
            <a:r>
              <a:rPr lang="en-US" dirty="0" smtClean="0"/>
              <a:t>Business trends</a:t>
            </a:r>
          </a:p>
          <a:p>
            <a:r>
              <a:rPr lang="en-US" dirty="0" smtClean="0"/>
              <a:t>Consumer </a:t>
            </a:r>
            <a:r>
              <a:rPr lang="en-US" dirty="0"/>
              <a:t>demands and </a:t>
            </a:r>
            <a:r>
              <a:rPr lang="en-US" dirty="0" smtClean="0"/>
              <a:t>behavior</a:t>
            </a:r>
          </a:p>
          <a:p>
            <a:r>
              <a:rPr lang="en-US" dirty="0" smtClean="0"/>
              <a:t>Marketing </a:t>
            </a:r>
            <a:r>
              <a:rPr lang="en-US" dirty="0"/>
              <a:t>and </a:t>
            </a:r>
            <a:r>
              <a:rPr lang="en-US" dirty="0" smtClean="0"/>
              <a:t>sales</a:t>
            </a:r>
          </a:p>
          <a:p>
            <a:r>
              <a:rPr lang="en-US" dirty="0" smtClean="0"/>
              <a:t>Brand promotion</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 calcmode="lin" valueType="num">
                                      <p:cBhvr additive="base">
                                        <p:cTn id="7" dur="500" fill="hold"/>
                                        <p:tgtEl>
                                          <p:spTgt spid="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3">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r>
              <a:rPr lang="en-US" dirty="0" smtClean="0"/>
              <a:t>Why Marketing</a:t>
            </a:r>
            <a:endParaRPr lang="en-IN"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lnSpcReduction="10000"/>
          </a:bodyPr>
          <a:lstStyle/>
          <a:p>
            <a:pPr marL="0" indent="0">
              <a:buNone/>
            </a:pPr>
            <a:r>
              <a:rPr lang="en-US" dirty="0"/>
              <a:t>Marketing is a highly competitive and rewarding field. Businesses across every industry rely on marketing professionals to generate awareness of their brand and increase sales of their products and services. </a:t>
            </a:r>
            <a:r>
              <a:rPr lang="en-US" dirty="0" smtClean="0"/>
              <a:t>My understanding is only Marketing and Sales represents profit of an organization. My skills also match to start the career in marketing as I believe that I am a </a:t>
            </a:r>
            <a:r>
              <a:rPr lang="en-US" dirty="0"/>
              <a:t>strategic </a:t>
            </a:r>
            <a:r>
              <a:rPr lang="en-US" dirty="0" smtClean="0"/>
              <a:t>and problem- solver, however </a:t>
            </a:r>
            <a:r>
              <a:rPr lang="en-US" dirty="0"/>
              <a:t>a career in marketing could be right for </a:t>
            </a:r>
            <a:r>
              <a:rPr lang="en-US" dirty="0" smtClean="0"/>
              <a:t>me</a:t>
            </a:r>
            <a:endParaRPr lang="en-IN" dirty="0"/>
          </a:p>
        </p:txBody>
      </p:sp>
    </p:spTree>
    <p:extLst>
      <p:ext uri="{BB962C8B-B14F-4D97-AF65-F5344CB8AC3E}">
        <p14:creationId xmlns:p14="http://schemas.microsoft.com/office/powerpoint/2010/main" val="33557347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Finance?</a:t>
            </a:r>
            <a:endParaRPr lang="en-IN" dirty="0"/>
          </a:p>
        </p:txBody>
      </p:sp>
      <p:sp>
        <p:nvSpPr>
          <p:cNvPr id="3" name="Content Placeholder 2"/>
          <p:cNvSpPr>
            <a:spLocks noGrp="1"/>
          </p:cNvSpPr>
          <p:nvPr>
            <p:ph idx="1"/>
          </p:nvPr>
        </p:nvSpPr>
        <p:spPr/>
        <p:txBody>
          <a:bodyPr/>
          <a:lstStyle/>
          <a:p>
            <a:r>
              <a:rPr lang="en-US" dirty="0"/>
              <a:t>Chance to Explore Various Job Roles</a:t>
            </a:r>
          </a:p>
          <a:p>
            <a:r>
              <a:rPr lang="en-IN" dirty="0"/>
              <a:t>High in Demand </a:t>
            </a:r>
          </a:p>
          <a:p>
            <a:r>
              <a:rPr lang="en-IN" dirty="0"/>
              <a:t>Lucrative Pay Packages </a:t>
            </a:r>
          </a:p>
          <a:p>
            <a:r>
              <a:rPr lang="en-IN" dirty="0"/>
              <a:t>Ensures Holistic Development</a:t>
            </a:r>
          </a:p>
          <a:p>
            <a:r>
              <a:rPr lang="en-IN" dirty="0"/>
              <a:t>The Wide Curriculum </a:t>
            </a:r>
          </a:p>
          <a:p>
            <a:r>
              <a:rPr lang="en-IN" dirty="0"/>
              <a:t>Start a New Venture </a:t>
            </a:r>
          </a:p>
          <a:p>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Jobs in Finance</a:t>
            </a:r>
            <a:endParaRPr lang="en-IN" dirty="0"/>
          </a:p>
        </p:txBody>
      </p:sp>
      <p:sp>
        <p:nvSpPr>
          <p:cNvPr id="3" name="Content Placeholder 2"/>
          <p:cNvSpPr>
            <a:spLocks noGrp="1"/>
          </p:cNvSpPr>
          <p:nvPr>
            <p:ph idx="1"/>
          </p:nvPr>
        </p:nvSpPr>
        <p:spPr/>
        <p:txBody>
          <a:bodyPr>
            <a:normAutofit lnSpcReduction="10000"/>
          </a:bodyPr>
          <a:lstStyle/>
          <a:p>
            <a:pPr marL="0" indent="0">
              <a:buNone/>
            </a:pPr>
            <a:r>
              <a:rPr lang="en-US" dirty="0" smtClean="0"/>
              <a:t>1.Investment Manager</a:t>
            </a:r>
          </a:p>
          <a:p>
            <a:pPr marL="0" indent="0">
              <a:buNone/>
            </a:pPr>
            <a:r>
              <a:rPr lang="en-US" dirty="0" smtClean="0"/>
              <a:t>2.Fund Manager</a:t>
            </a:r>
          </a:p>
          <a:p>
            <a:pPr marL="0" indent="0">
              <a:buNone/>
            </a:pPr>
            <a:r>
              <a:rPr lang="en-US" dirty="0" smtClean="0"/>
              <a:t>3.Investment officer</a:t>
            </a:r>
          </a:p>
          <a:p>
            <a:pPr marL="0" indent="0">
              <a:buNone/>
            </a:pPr>
            <a:r>
              <a:rPr lang="en-US" dirty="0" smtClean="0"/>
              <a:t>4.Stock Analysts</a:t>
            </a:r>
          </a:p>
          <a:p>
            <a:pPr marL="0" indent="0">
              <a:buNone/>
            </a:pPr>
            <a:r>
              <a:rPr lang="en-US" dirty="0" smtClean="0"/>
              <a:t>5.Branch Manager</a:t>
            </a:r>
          </a:p>
          <a:p>
            <a:pPr marL="0" indent="0">
              <a:buNone/>
            </a:pPr>
            <a:r>
              <a:rPr lang="en-US" dirty="0" smtClean="0"/>
              <a:t>6.Junior Dealer</a:t>
            </a:r>
          </a:p>
          <a:p>
            <a:pPr marL="0" indent="0">
              <a:buNone/>
            </a:pPr>
            <a:r>
              <a:rPr lang="en-US" dirty="0" smtClean="0"/>
              <a:t>7.Junior Manager</a:t>
            </a:r>
          </a:p>
          <a:p>
            <a:pPr marL="0" indent="0">
              <a:buNone/>
            </a:pPr>
            <a:r>
              <a:rPr lang="en-US" dirty="0" smtClean="0"/>
              <a:t>8.Junior </a:t>
            </a:r>
            <a:r>
              <a:rPr lang="en-US" dirty="0"/>
              <a:t>Stock </a:t>
            </a:r>
            <a:r>
              <a:rPr lang="en-US" dirty="0" smtClean="0"/>
              <a:t>Analysts</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box(in)">
                                      <p:cBhvr>
                                        <p:cTn id="21" dur="20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blinds(horizontal)">
                                      <p:cBhvr>
                                        <p:cTn id="26" dur="5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box(in)">
                                      <p:cBhvr>
                                        <p:cTn id="35" dur="20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blinds(horizontal)">
                                      <p:cBhvr>
                                        <p:cTn id="4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Scope of MBA in Finance, Salary, Jobs, Top Universities - Leverage Ed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04800"/>
            <a:ext cx="8455025" cy="61596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 Recruiters</a:t>
            </a:r>
            <a:endParaRPr lang="en-IN" dirty="0"/>
          </a:p>
        </p:txBody>
      </p:sp>
      <p:sp>
        <p:nvSpPr>
          <p:cNvPr id="3" name="Content Placeholder 2"/>
          <p:cNvSpPr>
            <a:spLocks noGrp="1"/>
          </p:cNvSpPr>
          <p:nvPr>
            <p:ph idx="1"/>
          </p:nvPr>
        </p:nvSpPr>
        <p:spPr/>
        <p:txBody>
          <a:bodyPr>
            <a:normAutofit fontScale="85000" lnSpcReduction="20000"/>
          </a:bodyPr>
          <a:lstStyle/>
          <a:p>
            <a:r>
              <a:rPr lang="en-US" dirty="0"/>
              <a:t>JP Morgan </a:t>
            </a:r>
          </a:p>
          <a:p>
            <a:r>
              <a:rPr lang="en-US" dirty="0"/>
              <a:t>Barclays </a:t>
            </a:r>
          </a:p>
          <a:p>
            <a:r>
              <a:rPr lang="en-US" dirty="0"/>
              <a:t>Bain and Company </a:t>
            </a:r>
          </a:p>
          <a:p>
            <a:r>
              <a:rPr lang="en-US" dirty="0"/>
              <a:t>Boston Consulting Group </a:t>
            </a:r>
          </a:p>
          <a:p>
            <a:r>
              <a:rPr lang="en-US" dirty="0"/>
              <a:t>Morgan </a:t>
            </a:r>
            <a:r>
              <a:rPr lang="en-US" dirty="0" err="1"/>
              <a:t>Stanely</a:t>
            </a:r>
            <a:r>
              <a:rPr lang="en-US" dirty="0"/>
              <a:t> </a:t>
            </a:r>
          </a:p>
          <a:p>
            <a:r>
              <a:rPr lang="en-US" dirty="0"/>
              <a:t>Goldman Sachs </a:t>
            </a:r>
          </a:p>
          <a:p>
            <a:r>
              <a:rPr lang="en-US" dirty="0"/>
              <a:t>KPMG</a:t>
            </a:r>
          </a:p>
          <a:p>
            <a:r>
              <a:rPr lang="en-US" dirty="0"/>
              <a:t>Deloitte</a:t>
            </a:r>
          </a:p>
          <a:p>
            <a:r>
              <a:rPr lang="en-US" dirty="0"/>
              <a:t>State Bank of India </a:t>
            </a:r>
          </a:p>
          <a:p>
            <a:r>
              <a:rPr lang="en-US" dirty="0"/>
              <a:t>HDFC</a:t>
            </a:r>
          </a:p>
          <a:p>
            <a:endParaRPr lang="en-IN"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r>
              <a:rPr lang="en-US" dirty="0" smtClean="0"/>
              <a:t>Why Finance</a:t>
            </a:r>
            <a:endParaRPr lang="en-IN"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pPr marL="0" indent="0">
              <a:buNone/>
            </a:pPr>
            <a:r>
              <a:rPr lang="en-US" dirty="0" smtClean="0"/>
              <a:t>Finance </a:t>
            </a:r>
            <a:r>
              <a:rPr lang="en-US" dirty="0"/>
              <a:t>and funds are known as the lifeblood of any business. You simply cannot function properly unless you have an adequate amount of money accessible to you and your business</a:t>
            </a:r>
            <a:r>
              <a:rPr lang="en-US" dirty="0" smtClean="0"/>
              <a:t>. It is the management </a:t>
            </a:r>
            <a:r>
              <a:rPr lang="en-US" dirty="0"/>
              <a:t>of money and includes activities such as investing, borrowing, lending, budgeting, saving, and forecasting. </a:t>
            </a:r>
            <a:r>
              <a:rPr lang="en-US" dirty="0" smtClean="0"/>
              <a:t>I have learnt strategic </a:t>
            </a:r>
            <a:r>
              <a:rPr lang="en-US" dirty="0"/>
              <a:t>skills, financial </a:t>
            </a:r>
            <a:r>
              <a:rPr lang="en-US" dirty="0" smtClean="0"/>
              <a:t>management which will help me to start my career</a:t>
            </a:r>
            <a:endParaRPr lang="en-IN" dirty="0"/>
          </a:p>
        </p:txBody>
      </p:sp>
    </p:spTree>
    <p:extLst>
      <p:ext uri="{BB962C8B-B14F-4D97-AF65-F5344CB8AC3E}">
        <p14:creationId xmlns:p14="http://schemas.microsoft.com/office/powerpoint/2010/main" val="38040564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nvSpPr>
        <p:spPr>
          <a:xfrm>
            <a:off x="457200" y="2742883"/>
            <a:ext cx="8229600" cy="11430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dk1"/>
                </a:solidFill>
                <a:latin typeface="+mj-lt"/>
                <a:ea typeface="+mj-ea"/>
                <a:cs typeface="+mj-cs"/>
              </a:defRPr>
            </a:lvl1pPr>
          </a:lstStyle>
          <a:p>
            <a:r>
              <a:rPr lang="en-US" dirty="0" smtClean="0"/>
              <a:t>WHY HR?</a:t>
            </a:r>
            <a:endParaRPr lang="en-IN"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r>
              <a:rPr lang="en-US" dirty="0" smtClean="0"/>
              <a:t>WHY HR?</a:t>
            </a:r>
            <a:endParaRPr lang="en-IN"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lnSpcReduction="10000"/>
          </a:bodyPr>
          <a:lstStyle/>
          <a:p>
            <a:pPr marL="0" indent="0">
              <a:buNone/>
            </a:pPr>
            <a:r>
              <a:rPr lang="en-US" b="1" dirty="0"/>
              <a:t>1. You’ll be in a position of influence</a:t>
            </a:r>
          </a:p>
          <a:p>
            <a:pPr marL="0" indent="0">
              <a:buNone/>
            </a:pPr>
            <a:r>
              <a:rPr lang="en-US" dirty="0" smtClean="0"/>
              <a:t>2. </a:t>
            </a:r>
            <a:r>
              <a:rPr lang="en-US" b="1" dirty="0"/>
              <a:t>You’ll have the chance to change lives</a:t>
            </a:r>
          </a:p>
          <a:p>
            <a:pPr marL="0" indent="0">
              <a:buNone/>
            </a:pPr>
            <a:r>
              <a:rPr lang="en-US" dirty="0" smtClean="0"/>
              <a:t>3. </a:t>
            </a:r>
            <a:r>
              <a:rPr lang="en-US" b="1" dirty="0"/>
              <a:t>You can help develop the people around you</a:t>
            </a:r>
          </a:p>
          <a:p>
            <a:pPr marL="0" indent="0">
              <a:buNone/>
            </a:pPr>
            <a:r>
              <a:rPr lang="en-US" dirty="0" smtClean="0"/>
              <a:t>4. </a:t>
            </a:r>
            <a:r>
              <a:rPr lang="en-US" b="1" dirty="0"/>
              <a:t>The field is experiencing steady growth</a:t>
            </a:r>
          </a:p>
          <a:p>
            <a:pPr marL="0" indent="0">
              <a:buNone/>
            </a:pPr>
            <a:r>
              <a:rPr lang="en-US" dirty="0" smtClean="0"/>
              <a:t>5. </a:t>
            </a:r>
            <a:r>
              <a:rPr lang="en-US" b="1" dirty="0"/>
              <a:t>You’ll feel gratification from solving problems</a:t>
            </a:r>
          </a:p>
          <a:p>
            <a:pPr marL="0" indent="0">
              <a:buNone/>
            </a:pPr>
            <a:r>
              <a:rPr lang="en-US" dirty="0" smtClean="0"/>
              <a:t>6. </a:t>
            </a:r>
            <a:r>
              <a:rPr lang="en-US" b="1" dirty="0"/>
              <a:t>Each workday will be different</a:t>
            </a:r>
          </a:p>
          <a:p>
            <a:pPr marL="0" indent="0">
              <a:buNone/>
            </a:pPr>
            <a:r>
              <a:rPr lang="en-US" dirty="0" smtClean="0"/>
              <a:t>7. </a:t>
            </a:r>
            <a:r>
              <a:rPr lang="en-US" b="1" dirty="0"/>
              <a:t>You’ll get to guide others in their careers</a:t>
            </a:r>
          </a:p>
          <a:p>
            <a:pPr marL="0" indent="0">
              <a:buNone/>
            </a:pPr>
            <a:r>
              <a:rPr lang="en-US" dirty="0" smtClean="0"/>
              <a:t>8. </a:t>
            </a:r>
            <a:r>
              <a:rPr lang="en-US" b="1" dirty="0"/>
              <a:t>You’ll get to work with people</a:t>
            </a:r>
          </a:p>
          <a:p>
            <a:pPr marL="0" indent="0">
              <a:buNone/>
            </a:pPr>
            <a:endParaRPr lang="en-IN"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Opportunities</a:t>
            </a:r>
            <a:endParaRPr lang="en-IN" dirty="0"/>
          </a:p>
        </p:txBody>
      </p:sp>
      <p:sp>
        <p:nvSpPr>
          <p:cNvPr id="3" name="Content Placeholder 2"/>
          <p:cNvSpPr>
            <a:spLocks noGrp="1"/>
          </p:cNvSpPr>
          <p:nvPr>
            <p:ph idx="1"/>
          </p:nvPr>
        </p:nvSpPr>
        <p:spPr/>
        <p:txBody>
          <a:bodyPr/>
          <a:lstStyle/>
          <a:p>
            <a:r>
              <a:rPr lang="en-US" dirty="0"/>
              <a:t>Recruitment </a:t>
            </a:r>
          </a:p>
          <a:p>
            <a:r>
              <a:rPr lang="en-US" dirty="0"/>
              <a:t>Training and development </a:t>
            </a:r>
          </a:p>
          <a:p>
            <a:r>
              <a:rPr lang="en-US" dirty="0"/>
              <a:t>Employee benefits </a:t>
            </a:r>
          </a:p>
          <a:p>
            <a:r>
              <a:rPr lang="en-US" dirty="0"/>
              <a:t>Co-ordination with employees</a:t>
            </a:r>
          </a:p>
          <a:p>
            <a:r>
              <a:rPr lang="en-US" dirty="0"/>
              <a:t>Manage Payroll</a:t>
            </a:r>
          </a:p>
          <a:p>
            <a:r>
              <a:rPr lang="en-US" dirty="0"/>
              <a:t>Manage compensation </a:t>
            </a:r>
          </a:p>
          <a:p>
            <a:r>
              <a:rPr lang="en-US" dirty="0"/>
              <a:t>Policy/Compliance</a:t>
            </a:r>
            <a:r>
              <a:rPr lang="en-US" b="1" dirty="0"/>
              <a:t> </a:t>
            </a:r>
            <a:endParaRPr lang="en-US" dirty="0"/>
          </a:p>
          <a:p>
            <a:endParaRPr lang="en-IN"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ttps://d1m75rqqgidzqn.cloudfront.net/wp-data/2021/06/28150047/hr-blog-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94" y="838200"/>
            <a:ext cx="9191625" cy="51625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HR </a:t>
            </a:r>
            <a:r>
              <a:rPr lang="en-US" b="1" dirty="0"/>
              <a:t>career in BPO, Corporate sectors, Service sector</a:t>
            </a:r>
            <a:r>
              <a:rPr lang="en-US" dirty="0"/>
              <a:t/>
            </a:r>
            <a:br>
              <a:rPr lang="en-US" dirty="0"/>
            </a:br>
            <a:endParaRPr lang="en-IN" dirty="0"/>
          </a:p>
        </p:txBody>
      </p:sp>
      <p:pic>
        <p:nvPicPr>
          <p:cNvPr id="6146" name="Picture 2" descr="https://lh6.googleusercontent.com/zImtM2OZXh9c-Fd23YxB1wxKkjKTQB6fmaOig1jAj6sWlEQI_xCVu7URMRBYghH7hPeiofjb02ILKhBdz7XrhHXFTcufCDW_6TINVaTTAnfI1cKHPhFKtoId4g-acfX2FxRk1Bw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937" y="1643417"/>
            <a:ext cx="8620125" cy="51816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HR </a:t>
            </a:r>
            <a:r>
              <a:rPr lang="en-US" b="1" dirty="0"/>
              <a:t>career in the Education sector</a:t>
            </a:r>
            <a:r>
              <a:rPr lang="en-US" dirty="0"/>
              <a:t/>
            </a:r>
            <a:br>
              <a:rPr lang="en-US" dirty="0"/>
            </a:br>
            <a:endParaRPr lang="en-IN" dirty="0"/>
          </a:p>
        </p:txBody>
      </p:sp>
      <p:pic>
        <p:nvPicPr>
          <p:cNvPr id="7170" name="Picture 2" descr="https://lh4.googleusercontent.com/QurDrfWJ1vUgZrJryOPAhBYqOSpdgh0OBQqyyei-euTvxXyTEOtMs2CDzlvaiabLsCfbSjq0JF3gTbHNqQGPkz2bnOUoNRqaKyVuERQMZhEBbzE17LYwBFZC3QG_7h94u2mACLj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362" y="1219200"/>
            <a:ext cx="8677275" cy="52197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HR </a:t>
            </a:r>
            <a:r>
              <a:rPr lang="en-US" dirty="0"/>
              <a:t>career in the Banking sector</a:t>
            </a:r>
            <a:br>
              <a:rPr lang="en-US" dirty="0"/>
            </a:br>
            <a:endParaRPr lang="en-IN" dirty="0"/>
          </a:p>
        </p:txBody>
      </p:sp>
      <p:pic>
        <p:nvPicPr>
          <p:cNvPr id="8194" name="Picture 2" descr="https://lh5.googleusercontent.com/H1DVMeX1ySB91Lg_bCGUUVdZmRirnEGRay7cj5NEuFd-rtc-OeV73w8T0YwnobECJJwKKMbscJSvkSheSw2XMcIax1RFIaQWi7tj56NTssrtxhXjM3HDT4r26W_I8ILB0cyo_MEJ"/>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 y="1295400"/>
            <a:ext cx="8610600" cy="52006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r>
              <a:rPr lang="en-US" dirty="0" smtClean="0"/>
              <a:t>Why HR</a:t>
            </a:r>
            <a:endParaRPr lang="en-IN"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pPr marL="0" indent="0">
              <a:buNone/>
            </a:pPr>
            <a:r>
              <a:rPr lang="en-US" dirty="0" smtClean="0"/>
              <a:t>As per my research, </a:t>
            </a:r>
            <a:r>
              <a:rPr lang="en-US" dirty="0"/>
              <a:t>A human resource department is also in charge of keeping employees safe, healthy, and </a:t>
            </a:r>
            <a:r>
              <a:rPr lang="en-US" dirty="0" smtClean="0"/>
              <a:t>happy. </a:t>
            </a:r>
            <a:r>
              <a:rPr lang="en-US" dirty="0"/>
              <a:t>Human Resources manages 5 main duties: talent management, compensation and employee benefits, training and development, compliance, and workplace safety</a:t>
            </a:r>
            <a:r>
              <a:rPr lang="en-US" dirty="0" smtClean="0"/>
              <a:t>. Humans can be the asset of the organization and company grows if people are happy and motivated . </a:t>
            </a:r>
            <a:endParaRPr lang="en-IN" dirty="0"/>
          </a:p>
        </p:txBody>
      </p:sp>
    </p:spTree>
    <p:extLst>
      <p:ext uri="{BB962C8B-B14F-4D97-AF65-F5344CB8AC3E}">
        <p14:creationId xmlns:p14="http://schemas.microsoft.com/office/powerpoint/2010/main" val="267703971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normAutofit fontScale="90000"/>
          </a:bodyPr>
          <a:lstStyle/>
          <a:p>
            <a:pPr marL="514350" indent="-514350"/>
            <a:r>
              <a:rPr lang="en-US" dirty="0"/>
              <a:t>WHERE DO YOU SEE YOURSELF AFTER 5 YEARS?</a:t>
            </a:r>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pPr>
              <a:buNone/>
            </a:pPr>
            <a:r>
              <a:rPr lang="en-US" dirty="0" smtClean="0"/>
              <a:t>   I will see myself as a motivational speaker and leadership coach because motivation is something which creates burning desire in mind and body to achieve goals if I get success then actually I am the most successful person to change lives of people. And in the journey of 5 years I believe I’ll develop skills which are required to handle this responsible position.</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r>
              <a:rPr lang="en-US" dirty="0" smtClean="0"/>
              <a:t>Answer for IT</a:t>
            </a:r>
            <a:endParaRPr lang="en-IN"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r>
              <a:rPr lang="en-US" dirty="0" smtClean="0"/>
              <a:t>I will see myself as a team leader because I am sure that I will achieve technical expertise / Domain expertise by certifications and working on different projects and I will develop my leadership ability to handle and manage my team.</a:t>
            </a:r>
            <a:endParaRPr lang="en-IN" dirty="0"/>
          </a:p>
        </p:txBody>
      </p:sp>
    </p:spTree>
    <p:extLst>
      <p:ext uri="{BB962C8B-B14F-4D97-AF65-F5344CB8AC3E}">
        <p14:creationId xmlns:p14="http://schemas.microsoft.com/office/powerpoint/2010/main" val="270704773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09600" y="975360"/>
            <a:ext cx="8153400" cy="853440"/>
          </a:xfrm>
        </p:spPr>
        <p:style>
          <a:lnRef idx="2">
            <a:schemeClr val="dk1"/>
          </a:lnRef>
          <a:fillRef idx="1">
            <a:schemeClr val="lt1"/>
          </a:fillRef>
          <a:effectRef idx="0">
            <a:schemeClr val="dk1"/>
          </a:effectRef>
          <a:fontRef idx="minor">
            <a:schemeClr val="dk1"/>
          </a:fontRef>
        </p:style>
        <p:txBody>
          <a:bodyPr/>
          <a:lstStyle/>
          <a:p>
            <a:r>
              <a:rPr lang="en-US" dirty="0" smtClean="0"/>
              <a:t> MY JOURNEY IN </a:t>
            </a:r>
            <a:r>
              <a:rPr lang="en-US" dirty="0"/>
              <a:t>12 </a:t>
            </a:r>
            <a:r>
              <a:rPr lang="en-US" dirty="0" smtClean="0"/>
              <a:t>YEA</a:t>
            </a:r>
            <a:r>
              <a:rPr lang="en-US" dirty="0"/>
              <a:t>R</a:t>
            </a:r>
            <a:r>
              <a:rPr lang="en-US" dirty="0" smtClean="0"/>
              <a:t>S</a:t>
            </a:r>
            <a:endParaRPr lang="en-US" dirty="0"/>
          </a:p>
        </p:txBody>
      </p:sp>
      <p:sp>
        <p:nvSpPr>
          <p:cNvPr id="8" name="Oval 7"/>
          <p:cNvSpPr/>
          <p:nvPr/>
        </p:nvSpPr>
        <p:spPr>
          <a:xfrm>
            <a:off x="1905000" y="2313878"/>
            <a:ext cx="4953000" cy="16002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solidFill>
                  <a:srgbClr val="FF0000"/>
                </a:solidFill>
              </a:rPr>
              <a:t>B.E.( E AND TC)</a:t>
            </a:r>
          </a:p>
          <a:p>
            <a:pPr algn="ctr"/>
            <a:r>
              <a:rPr lang="en-US" sz="2800" b="1" dirty="0">
                <a:solidFill>
                  <a:schemeClr val="tx2">
                    <a:lumMod val="60000"/>
                    <a:lumOff val="40000"/>
                  </a:schemeClr>
                </a:solidFill>
              </a:rPr>
              <a:t>PGDBA(HR)</a:t>
            </a:r>
          </a:p>
        </p:txBody>
      </p:sp>
      <p:sp>
        <p:nvSpPr>
          <p:cNvPr id="9" name="Oval 8"/>
          <p:cNvSpPr/>
          <p:nvPr/>
        </p:nvSpPr>
        <p:spPr>
          <a:xfrm>
            <a:off x="4575464" y="3886200"/>
            <a:ext cx="4267200" cy="16002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2400" dirty="0"/>
              <a:t>12 + INTERNATIONAL CERTIFICATIONS</a:t>
            </a:r>
          </a:p>
        </p:txBody>
      </p:sp>
      <p:sp>
        <p:nvSpPr>
          <p:cNvPr id="12" name="Oval 11"/>
          <p:cNvSpPr/>
          <p:nvPr/>
        </p:nvSpPr>
        <p:spPr>
          <a:xfrm>
            <a:off x="533400" y="4038600"/>
            <a:ext cx="3429000" cy="160020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200" dirty="0" smtClean="0"/>
              <a:t>53 </a:t>
            </a:r>
            <a:r>
              <a:rPr lang="en-US" sz="3200" dirty="0"/>
              <a:t>CLIENTS</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r>
              <a:rPr lang="en-US" altLang="en-IN" dirty="0"/>
              <a:t>Why Should you be hired?</a:t>
            </a:r>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r>
              <a:rPr lang="en-US" altLang="en-IN" dirty="0"/>
              <a:t>Knowledge</a:t>
            </a:r>
          </a:p>
          <a:p>
            <a:r>
              <a:rPr lang="en-US" altLang="en-IN" dirty="0"/>
              <a:t>Skills</a:t>
            </a:r>
          </a:p>
          <a:p>
            <a:r>
              <a:rPr lang="en-US" altLang="en-IN" dirty="0"/>
              <a:t>Attitude</a:t>
            </a:r>
          </a:p>
          <a:p>
            <a:r>
              <a:rPr lang="en-US" altLang="en-IN" dirty="0"/>
              <a:t>Experience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ox(in)">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r>
              <a:rPr lang="en-US" dirty="0" smtClean="0"/>
              <a:t>Answer</a:t>
            </a:r>
            <a:endParaRPr lang="en-IN"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lnSpcReduction="10000"/>
          </a:bodyPr>
          <a:lstStyle/>
          <a:p>
            <a:r>
              <a:rPr lang="en-US" dirty="0" smtClean="0"/>
              <a:t>Sir / Madam, I believe that everyone should be hired based on knowledge, skills and abilities. Based on my initiatives in my educational and professional career I am sure that I have achieved these through projects undertaken, paper presentations and certifications also this has developed requisite skills like assertive attitude and analytical skills, problem solving and now I am confident that I can start my career in IT and add value. </a:t>
            </a:r>
            <a:endParaRPr lang="en-IN" dirty="0"/>
          </a:p>
        </p:txBody>
      </p:sp>
    </p:spTree>
    <p:extLst>
      <p:ext uri="{BB962C8B-B14F-4D97-AF65-F5344CB8AC3E}">
        <p14:creationId xmlns:p14="http://schemas.microsoft.com/office/powerpoint/2010/main" val="28711876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r>
              <a:rPr lang="en-US"/>
              <a:t>Why should you be hired?</a:t>
            </a:r>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fontScale="80000" lnSpcReduction="10000"/>
          </a:bodyPr>
          <a:lstStyle/>
          <a:p>
            <a:r>
              <a:rPr lang="en-US"/>
              <a:t>I have also worked tirelessly on my abilities and teamwork skills, which I will put to use in my future career, which would be in your organization if I am selected for the position.</a:t>
            </a:r>
          </a:p>
          <a:p>
            <a:endParaRPr lang="en-US"/>
          </a:p>
          <a:p>
            <a:r>
              <a:rPr lang="en-US"/>
              <a:t>I have given my 100% effort in my initiatives, and this has enabled me to recognize my capabilities and limitations.</a:t>
            </a:r>
          </a:p>
          <a:p>
            <a:endParaRPr lang="en-US"/>
          </a:p>
          <a:p>
            <a:r>
              <a:rPr lang="en-US"/>
              <a:t>If I channelize them further, they will bring fruitful results to me and also to your esteemed organization.”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blinds(horizontal)">
                                      <p:cBhvr>
                                        <p:cTn id="1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normAutofit fontScale="90000"/>
          </a:bodyPr>
          <a:lstStyle/>
          <a:p>
            <a:r>
              <a:rPr lang="en-US">
                <a:sym typeface="+mn-ea"/>
              </a:rPr>
              <a:t/>
            </a:r>
            <a:br>
              <a:rPr lang="en-US">
                <a:sym typeface="+mn-ea"/>
              </a:rPr>
            </a:br>
            <a:r>
              <a:rPr lang="en-US">
                <a:sym typeface="+mn-ea"/>
              </a:rPr>
              <a:t>Why should you be hired?</a:t>
            </a:r>
            <a:r>
              <a:rPr lang="en-US"/>
              <a:t/>
            </a:r>
            <a:br>
              <a:rPr lang="en-US"/>
            </a:br>
            <a:endParaRPr lang="en-US"/>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fontScale="90000" lnSpcReduction="20000"/>
          </a:bodyPr>
          <a:lstStyle/>
          <a:p>
            <a:r>
              <a:rPr lang="en-US" dirty="0"/>
              <a:t>“This is a wonderful opportunity for me to get interviewed at such a renowned company.</a:t>
            </a:r>
          </a:p>
          <a:p>
            <a:endParaRPr lang="en-US" dirty="0"/>
          </a:p>
          <a:p>
            <a:r>
              <a:rPr lang="en-US" dirty="0"/>
              <a:t>Your organization will surely prove to be an excellent platform for me to establish my skills and knowledge in the corporate world.</a:t>
            </a:r>
          </a:p>
          <a:p>
            <a:endParaRPr lang="en-US" dirty="0"/>
          </a:p>
          <a:p>
            <a:r>
              <a:rPr lang="en-US" dirty="0"/>
              <a:t>Even though I am a fresher, I assure you that I will give my best and work to my full potential so that I can contribute as much as I can towards the growth and welfare of this great brand.”</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971800"/>
            <a:ext cx="8458200" cy="1143000"/>
          </a:xfrm>
        </p:spPr>
        <p:style>
          <a:lnRef idx="2">
            <a:schemeClr val="dk1"/>
          </a:lnRef>
          <a:fillRef idx="1">
            <a:schemeClr val="lt1"/>
          </a:fillRef>
          <a:effectRef idx="0">
            <a:schemeClr val="dk1"/>
          </a:effectRef>
          <a:fontRef idx="minor">
            <a:schemeClr val="dk1"/>
          </a:fontRef>
        </p:style>
        <p:txBody>
          <a:bodyPr>
            <a:noAutofit/>
          </a:bodyPr>
          <a:lstStyle/>
          <a:p>
            <a:r>
              <a:rPr lang="en-US" sz="3600" dirty="0" smtClean="0"/>
              <a:t/>
            </a:r>
            <a:br>
              <a:rPr lang="en-US" sz="3600" dirty="0" smtClean="0"/>
            </a:br>
            <a:r>
              <a:rPr lang="en-US" sz="3600" dirty="0" smtClean="0"/>
              <a:t>WHAT </a:t>
            </a:r>
            <a:r>
              <a:rPr lang="en-US" sz="3600" dirty="0"/>
              <a:t>ARE YOUR SALARY EXPECTATIONS?</a:t>
            </a:r>
            <a:br>
              <a:rPr lang="en-US" sz="3600" dirty="0"/>
            </a:br>
            <a:endParaRPr lang="en-US" sz="3600"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normAutofit fontScale="90000"/>
          </a:bodyPr>
          <a:lstStyle/>
          <a:p>
            <a:r>
              <a:rPr lang="en-US" sz="4000" dirty="0" smtClean="0">
                <a:sym typeface="+mn-ea"/>
              </a:rPr>
              <a:t/>
            </a:r>
            <a:br>
              <a:rPr lang="en-US" sz="4000" dirty="0" smtClean="0">
                <a:sym typeface="+mn-ea"/>
              </a:rPr>
            </a:br>
            <a:r>
              <a:rPr lang="en-US" sz="4000" dirty="0" smtClean="0">
                <a:sym typeface="+mn-ea"/>
              </a:rPr>
              <a:t>WHAT </a:t>
            </a:r>
            <a:r>
              <a:rPr lang="en-US" sz="4000" dirty="0">
                <a:sym typeface="+mn-ea"/>
              </a:rPr>
              <a:t>ARE YOUR SALARY EXPECTATIONS?</a:t>
            </a:r>
            <a:br>
              <a:rPr lang="en-US" sz="4000" dirty="0">
                <a:sym typeface="+mn-ea"/>
              </a:rPr>
            </a:br>
            <a:endParaRPr lang="en-US" sz="400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r>
              <a:rPr lang="en-US" dirty="0"/>
              <a:t>Company standards</a:t>
            </a:r>
          </a:p>
          <a:p>
            <a:r>
              <a:rPr lang="en-US" dirty="0"/>
              <a:t>Based on my market study I will expect a package between 5 to 6 lacs</a:t>
            </a:r>
          </a:p>
          <a:p>
            <a:r>
              <a:rPr lang="en-US" dirty="0"/>
              <a:t>As per the discussion with placement </a:t>
            </a:r>
            <a:r>
              <a:rPr lang="en-US" dirty="0" smtClean="0"/>
              <a:t>team, I </a:t>
            </a:r>
            <a:r>
              <a:rPr lang="en-US" dirty="0"/>
              <a:t>came to know that </a:t>
            </a:r>
            <a:r>
              <a:rPr lang="en-US"/>
              <a:t>the </a:t>
            </a:r>
            <a:r>
              <a:rPr lang="en-US" smtClean="0"/>
              <a:t>company </a:t>
            </a:r>
            <a:r>
              <a:rPr lang="en-US" dirty="0"/>
              <a:t>provides 6 lacs for this job role and I am comfortable with this package.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blinds(horizontal)">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blinds(horizontal)">
                                      <p:cBhvr>
                                        <p:cTn id="16"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normAutofit fontScale="90000"/>
          </a:bodyPr>
          <a:lstStyle/>
          <a:p>
            <a:r>
              <a:rPr lang="en-US" dirty="0">
                <a:solidFill>
                  <a:srgbClr val="000000"/>
                </a:solidFill>
                <a:latin typeface="Cambria" panose="02040503050406030204" charset="-122"/>
                <a:sym typeface="+mn-ea"/>
              </a:rPr>
              <a:t> </a:t>
            </a:r>
            <a:br>
              <a:rPr lang="en-US" dirty="0">
                <a:solidFill>
                  <a:srgbClr val="000000"/>
                </a:solidFill>
                <a:latin typeface="Cambria" panose="02040503050406030204" charset="-122"/>
                <a:sym typeface="+mn-ea"/>
              </a:rPr>
            </a:br>
            <a:r>
              <a:rPr lang="en-US" sz="3110" dirty="0">
                <a:solidFill>
                  <a:srgbClr val="000000"/>
                </a:solidFill>
                <a:latin typeface="Cambria" panose="02040503050406030204" charset="-122"/>
                <a:sym typeface="+mn-ea"/>
              </a:rPr>
              <a:t>A situation where you </a:t>
            </a:r>
            <a:r>
              <a:rPr lang="en-US" sz="3110">
                <a:solidFill>
                  <a:srgbClr val="000000"/>
                </a:solidFill>
                <a:latin typeface="Cambria" panose="02040503050406030204" charset="-122"/>
                <a:sym typeface="+mn-ea"/>
              </a:rPr>
              <a:t>have </a:t>
            </a:r>
            <a:r>
              <a:rPr lang="en-US" sz="3110" smtClean="0">
                <a:solidFill>
                  <a:srgbClr val="000000"/>
                </a:solidFill>
                <a:latin typeface="Cambria" panose="02040503050406030204" charset="-122"/>
                <a:sym typeface="+mn-ea"/>
              </a:rPr>
              <a:t>taken </a:t>
            </a:r>
            <a:r>
              <a:rPr lang="en-US" sz="3110">
                <a:solidFill>
                  <a:srgbClr val="000000"/>
                </a:solidFill>
                <a:latin typeface="Cambria" panose="02040503050406030204" charset="-122"/>
                <a:sym typeface="+mn-ea"/>
              </a:rPr>
              <a:t>a tough decision</a:t>
            </a:r>
            <a:r>
              <a:rPr lang="en-US" b="0">
                <a:solidFill>
                  <a:srgbClr val="000000"/>
                </a:solidFill>
                <a:latin typeface="Cambria" panose="02040503050406030204" charset="-122"/>
              </a:rPr>
              <a:t/>
            </a:r>
            <a:br>
              <a:rPr lang="en-US" b="0">
                <a:solidFill>
                  <a:srgbClr val="000000"/>
                </a:solidFill>
                <a:latin typeface="Cambria" panose="02040503050406030204" charset="-122"/>
              </a:rPr>
            </a:br>
            <a:endParaRPr lang="en-US"/>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r>
              <a:rPr lang="en-US"/>
              <a:t>Explain the situation and elaborate how did you take the decision and consequences after the decision.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normAutofit fontScale="90000"/>
          </a:bodyPr>
          <a:lstStyle/>
          <a:p>
            <a:r>
              <a:rPr lang="en-US" sz="3110">
                <a:solidFill>
                  <a:srgbClr val="000000"/>
                </a:solidFill>
                <a:latin typeface="Calibri" panose="020F0502020204030204" charset="-122"/>
                <a:sym typeface="+mn-ea"/>
              </a:rPr>
              <a:t/>
            </a:r>
            <a:br>
              <a:rPr lang="en-US" sz="3110">
                <a:solidFill>
                  <a:srgbClr val="000000"/>
                </a:solidFill>
                <a:latin typeface="Calibri" panose="020F0502020204030204" charset="-122"/>
                <a:sym typeface="+mn-ea"/>
              </a:rPr>
            </a:br>
            <a:r>
              <a:rPr lang="en-US" sz="3110">
                <a:solidFill>
                  <a:srgbClr val="000000"/>
                </a:solidFill>
                <a:latin typeface="Calibri" panose="020F0502020204030204" charset="-122"/>
                <a:sym typeface="+mn-ea"/>
              </a:rPr>
              <a:t>What are your short term and long term goals?</a:t>
            </a:r>
            <a:r>
              <a:rPr lang="en-US" sz="3110" b="0">
                <a:solidFill>
                  <a:srgbClr val="000000"/>
                </a:solidFill>
                <a:latin typeface="Calibri" panose="020F0502020204030204" charset="-122"/>
              </a:rPr>
              <a:t/>
            </a:r>
            <a:br>
              <a:rPr lang="en-US" sz="3110" b="0">
                <a:solidFill>
                  <a:srgbClr val="000000"/>
                </a:solidFill>
                <a:latin typeface="Calibri" panose="020F0502020204030204" charset="-122"/>
              </a:rPr>
            </a:br>
            <a:endParaRPr lang="en-US" sz="311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pPr marL="0" indent="0" algn="ctr">
              <a:buNone/>
            </a:pPr>
            <a:r>
              <a:rPr lang="en-US"/>
              <a:t>Short term</a:t>
            </a:r>
          </a:p>
          <a:p>
            <a:pPr algn="l"/>
            <a:r>
              <a:rPr lang="en-US"/>
              <a:t>Time frame: internship and up to 2-3 years after graduation</a:t>
            </a:r>
          </a:p>
          <a:p>
            <a:pPr algn="l"/>
            <a:r>
              <a:rPr lang="en-US"/>
              <a:t>Stepping stone to your long-term MBA goals</a:t>
            </a:r>
          </a:p>
          <a:p>
            <a:pPr algn="l"/>
            <a:r>
              <a:rPr lang="en-US"/>
              <a:t>Focuses on building capacities, expertise, and experience</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normAutofit fontScale="90000"/>
          </a:bodyPr>
          <a:lstStyle/>
          <a:p>
            <a:r>
              <a:rPr lang="en-US" sz="3110">
                <a:solidFill>
                  <a:srgbClr val="000000"/>
                </a:solidFill>
                <a:latin typeface="Calibri" panose="020F0502020204030204" charset="-122"/>
                <a:sym typeface="+mn-ea"/>
              </a:rPr>
              <a:t/>
            </a:r>
            <a:br>
              <a:rPr lang="en-US" sz="3110">
                <a:solidFill>
                  <a:srgbClr val="000000"/>
                </a:solidFill>
                <a:latin typeface="Calibri" panose="020F0502020204030204" charset="-122"/>
                <a:sym typeface="+mn-ea"/>
              </a:rPr>
            </a:br>
            <a:r>
              <a:rPr lang="en-US" sz="3110">
                <a:solidFill>
                  <a:srgbClr val="000000"/>
                </a:solidFill>
                <a:latin typeface="Calibri" panose="020F0502020204030204" charset="-122"/>
                <a:sym typeface="+mn-ea"/>
              </a:rPr>
              <a:t>What are your short term and long term goals?</a:t>
            </a:r>
            <a:br>
              <a:rPr lang="en-US" sz="3110">
                <a:solidFill>
                  <a:srgbClr val="000000"/>
                </a:solidFill>
                <a:latin typeface="Calibri" panose="020F0502020204030204" charset="-122"/>
                <a:sym typeface="+mn-ea"/>
              </a:rPr>
            </a:br>
            <a:endParaRPr lang="en-US" sz="311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fontScale="92500" lnSpcReduction="10000"/>
          </a:bodyPr>
          <a:lstStyle/>
          <a:p>
            <a:pPr marL="0" indent="0" algn="ctr">
              <a:buNone/>
            </a:pPr>
            <a:r>
              <a:rPr lang="en-US"/>
              <a:t>Long term</a:t>
            </a:r>
          </a:p>
          <a:p>
            <a:pPr marL="0" indent="0" algn="l">
              <a:buNone/>
            </a:pPr>
            <a:r>
              <a:rPr lang="en-US"/>
              <a:t>Time frame: 10+ years</a:t>
            </a:r>
          </a:p>
          <a:p>
            <a:pPr marL="0" indent="0" algn="l">
              <a:buNone/>
            </a:pPr>
            <a:r>
              <a:rPr lang="en-US"/>
              <a:t>The end goal: What you want to be “when you grow up”</a:t>
            </a:r>
          </a:p>
          <a:p>
            <a:pPr marL="0" indent="0" algn="l">
              <a:buNone/>
            </a:pPr>
            <a:r>
              <a:rPr lang="en-US"/>
              <a:t>Reflects your values</a:t>
            </a:r>
          </a:p>
          <a:p>
            <a:pPr marL="0" indent="0" algn="l">
              <a:buNone/>
            </a:pPr>
            <a:r>
              <a:rPr lang="en-US"/>
              <a:t>Focuses more on desired impact</a:t>
            </a:r>
          </a:p>
          <a:p>
            <a:pPr marL="0" indent="0" algn="l">
              <a:buNone/>
            </a:pPr>
            <a:r>
              <a:rPr lang="en-US"/>
              <a:t>Both inspirational and aspirational</a:t>
            </a:r>
          </a:p>
          <a:p>
            <a:pPr marL="0" indent="0" algn="l">
              <a:buNone/>
            </a:pPr>
            <a:r>
              <a:rPr lang="en-US"/>
              <a:t>Expresses the motivation behind your short-term goals</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normAutofit fontScale="90000"/>
          </a:bodyPr>
          <a:lstStyle/>
          <a:p>
            <a:r>
              <a:rPr lang="en-US"/>
              <a:t>What is your opinion about working on weeknends?</a:t>
            </a:r>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r>
              <a:rPr lang="en-US"/>
              <a:t>Sir /Madam, Nobody wants to install the habit of working on wekends however it is my morale responsibility to work in case of project deadline or exigency.</a:t>
            </a:r>
          </a:p>
          <a:p>
            <a:pPr marL="0" indent="0">
              <a:buNone/>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90483"/>
            <a:ext cx="8229600" cy="1143000"/>
          </a:xfrm>
        </p:spPr>
        <p:style>
          <a:lnRef idx="2">
            <a:schemeClr val="dk1"/>
          </a:lnRef>
          <a:fillRef idx="1">
            <a:schemeClr val="lt1"/>
          </a:fillRef>
          <a:effectRef idx="0">
            <a:schemeClr val="dk1"/>
          </a:effectRef>
          <a:fontRef idx="minor">
            <a:schemeClr val="dk1"/>
          </a:fontRef>
        </p:style>
        <p:txBody>
          <a:bodyPr>
            <a:normAutofit fontScale="90000"/>
          </a:bodyPr>
          <a:lstStyle/>
          <a:p>
            <a:r>
              <a:rPr lang="en-US"/>
              <a:t>Are you comfortable in any location?</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90483"/>
            <a:ext cx="8229600" cy="1143000"/>
          </a:xfrm>
        </p:spPr>
        <p:style>
          <a:lnRef idx="2">
            <a:schemeClr val="dk1"/>
          </a:lnRef>
          <a:fillRef idx="1">
            <a:schemeClr val="lt1"/>
          </a:fillRef>
          <a:effectRef idx="0">
            <a:schemeClr val="dk1"/>
          </a:effectRef>
          <a:fontRef idx="minor">
            <a:schemeClr val="dk1"/>
          </a:fontRef>
        </p:style>
        <p:txBody>
          <a:bodyPr/>
          <a:lstStyle/>
          <a:p>
            <a:r>
              <a:rPr lang="en-US"/>
              <a:t>Are you flexible in us shift?</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2883"/>
            <a:ext cx="8229600" cy="1143000"/>
          </a:xfrm>
        </p:spPr>
        <p:style>
          <a:lnRef idx="2">
            <a:schemeClr val="dk1"/>
          </a:lnRef>
          <a:fillRef idx="1">
            <a:schemeClr val="lt1"/>
          </a:fillRef>
          <a:effectRef idx="0">
            <a:schemeClr val="dk1"/>
          </a:effectRef>
          <a:fontRef idx="minor">
            <a:schemeClr val="dk1"/>
          </a:fontRef>
        </p:style>
        <p:txBody>
          <a:bodyPr/>
          <a:lstStyle/>
          <a:p>
            <a:r>
              <a:rPr lang="en-US"/>
              <a:t>What are your achievements?</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742883"/>
            <a:ext cx="8229600" cy="1143000"/>
          </a:xfrm>
        </p:spPr>
        <p:style>
          <a:lnRef idx="2">
            <a:schemeClr val="dk1"/>
          </a:lnRef>
          <a:fillRef idx="1">
            <a:schemeClr val="lt1"/>
          </a:fillRef>
          <a:effectRef idx="0">
            <a:schemeClr val="dk1"/>
          </a:effectRef>
          <a:fontRef idx="minor">
            <a:schemeClr val="dk1"/>
          </a:fontRef>
        </p:style>
        <p:txBody>
          <a:bodyPr>
            <a:normAutofit fontScale="90000"/>
          </a:bodyPr>
          <a:lstStyle/>
          <a:p>
            <a:r>
              <a:rPr lang="en-US" dirty="0"/>
              <a:t>Are you comfortable with the bond of. 1 </a:t>
            </a:r>
            <a:r>
              <a:rPr lang="en-US" dirty="0" smtClean="0"/>
              <a:t>year of 5 </a:t>
            </a:r>
            <a:r>
              <a:rPr lang="en-US" dirty="0" err="1" smtClean="0"/>
              <a:t>lacs</a:t>
            </a:r>
            <a:r>
              <a:rPr lang="en-IN" altLang="en-US" dirty="0" smtClean="0"/>
              <a:t>?</a:t>
            </a:r>
            <a:endParaRPr lang="en-IN" alt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19083"/>
            <a:ext cx="8229600" cy="1143000"/>
          </a:xfrm>
        </p:spPr>
        <p:style>
          <a:lnRef idx="2">
            <a:schemeClr val="dk1"/>
          </a:lnRef>
          <a:fillRef idx="1">
            <a:schemeClr val="lt1"/>
          </a:fillRef>
          <a:effectRef idx="0">
            <a:schemeClr val="dk1"/>
          </a:effectRef>
          <a:fontRef idx="minor">
            <a:schemeClr val="dk1"/>
          </a:fontRef>
        </p:style>
        <p:txBody>
          <a:bodyPr/>
          <a:lstStyle/>
          <a:p>
            <a:r>
              <a:rPr lang="en-US"/>
              <a:t>Describe yourself in a word</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183"/>
            <a:ext cx="8229600" cy="1143000"/>
          </a:xfrm>
        </p:spPr>
        <p:style>
          <a:lnRef idx="2">
            <a:schemeClr val="dk1"/>
          </a:lnRef>
          <a:fillRef idx="1">
            <a:schemeClr val="lt1"/>
          </a:fillRef>
          <a:effectRef idx="0">
            <a:schemeClr val="dk1"/>
          </a:effectRef>
          <a:fontRef idx="minor">
            <a:schemeClr val="dk1"/>
          </a:fontRef>
        </p:style>
        <p:txBody>
          <a:bodyPr/>
          <a:lstStyle/>
          <a:p>
            <a:r>
              <a:rPr lang="en-US"/>
              <a:t>How do you define success?</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2883"/>
            <a:ext cx="8229600" cy="1143000"/>
          </a:xfrm>
        </p:spPr>
        <p:style>
          <a:lnRef idx="2">
            <a:schemeClr val="dk1"/>
          </a:lnRef>
          <a:fillRef idx="1">
            <a:schemeClr val="lt1"/>
          </a:fillRef>
          <a:effectRef idx="0">
            <a:schemeClr val="dk1"/>
          </a:effectRef>
          <a:fontRef idx="minor">
            <a:schemeClr val="dk1"/>
          </a:fontRef>
        </p:style>
        <p:txBody>
          <a:bodyPr>
            <a:normAutofit fontScale="90000"/>
          </a:bodyPr>
          <a:lstStyle/>
          <a:p>
            <a:r>
              <a:rPr lang="en-US"/>
              <a:t>How do you behave and socialize in a party?</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19083"/>
            <a:ext cx="8229600" cy="1143000"/>
          </a:xfrm>
        </p:spPr>
        <p:style>
          <a:lnRef idx="2">
            <a:schemeClr val="dk1"/>
          </a:lnRef>
          <a:fillRef idx="1">
            <a:schemeClr val="lt1"/>
          </a:fillRef>
          <a:effectRef idx="0">
            <a:schemeClr val="dk1"/>
          </a:effectRef>
          <a:fontRef idx="minor">
            <a:schemeClr val="dk1"/>
          </a:fontRef>
        </p:style>
        <p:txBody>
          <a:bodyPr/>
          <a:lstStyle/>
          <a:p>
            <a:r>
              <a:rPr lang="en-US"/>
              <a:t>How do you handle pressure?</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76400"/>
            <a:ext cx="8229600" cy="1143000"/>
          </a:xfrm>
        </p:spPr>
        <p:style>
          <a:lnRef idx="2">
            <a:schemeClr val="dk1"/>
          </a:lnRef>
          <a:fillRef idx="1">
            <a:schemeClr val="lt1"/>
          </a:fillRef>
          <a:effectRef idx="0">
            <a:schemeClr val="dk1"/>
          </a:effectRef>
          <a:fontRef idx="minor">
            <a:schemeClr val="dk1"/>
          </a:fontRef>
        </p:style>
        <p:txBody>
          <a:bodyPr>
            <a:normAutofit fontScale="90000"/>
          </a:bodyPr>
          <a:lstStyle/>
          <a:p>
            <a:r>
              <a:rPr lang="en-US" dirty="0"/>
              <a:t>How you will count no of tree in </a:t>
            </a:r>
            <a:r>
              <a:rPr lang="en-US" dirty="0" err="1"/>
              <a:t>pune</a:t>
            </a:r>
            <a:r>
              <a:rPr lang="en-US" dirty="0"/>
              <a:t> region?</a:t>
            </a:r>
          </a:p>
        </p:txBody>
      </p:sp>
      <p:sp>
        <p:nvSpPr>
          <p:cNvPr id="3" name="Title 1"/>
          <p:cNvSpPr txBox="1">
            <a:spLocks/>
          </p:cNvSpPr>
          <p:nvPr/>
        </p:nvSpPr>
        <p:spPr>
          <a:xfrm>
            <a:off x="457200" y="3352800"/>
            <a:ext cx="8229600" cy="11430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ctr">
            <a:normAutofit fontScale="90000" lnSpcReduction="20000"/>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dirty="0" smtClean="0"/>
              <a:t>How many </a:t>
            </a:r>
            <a:r>
              <a:rPr lang="en-US" dirty="0" smtClean="0"/>
              <a:t>signals</a:t>
            </a:r>
            <a:r>
              <a:rPr lang="en-US" dirty="0" smtClean="0"/>
              <a:t> </a:t>
            </a:r>
            <a:r>
              <a:rPr lang="en-US" dirty="0" smtClean="0"/>
              <a:t>are there in </a:t>
            </a:r>
            <a:r>
              <a:rPr lang="en-US" dirty="0" err="1" smtClean="0"/>
              <a:t>pune</a:t>
            </a:r>
            <a:r>
              <a:rPr lang="en-US" dirty="0" smtClean="0"/>
              <a:t> region?</a:t>
            </a:r>
            <a:endParaRPr lang="en-US"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19083"/>
            <a:ext cx="8229600" cy="1143000"/>
          </a:xfrm>
        </p:spPr>
        <p:style>
          <a:lnRef idx="2">
            <a:schemeClr val="dk1"/>
          </a:lnRef>
          <a:fillRef idx="1">
            <a:schemeClr val="lt1"/>
          </a:fillRef>
          <a:effectRef idx="0">
            <a:schemeClr val="dk1"/>
          </a:effectRef>
          <a:fontRef idx="minor">
            <a:schemeClr val="dk1"/>
          </a:fontRef>
        </p:style>
        <p:txBody>
          <a:bodyPr>
            <a:normAutofit fontScale="90000"/>
          </a:bodyPr>
          <a:lstStyle/>
          <a:p>
            <a:r>
              <a:rPr lang="en-US" sz="3110"/>
              <a:t>If you are doing business after 4 to 5 years which business you will do and how can you research on that</a:t>
            </a: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95283"/>
            <a:ext cx="8229600" cy="1143000"/>
          </a:xfrm>
        </p:spPr>
        <p:style>
          <a:lnRef idx="2">
            <a:schemeClr val="dk1"/>
          </a:lnRef>
          <a:fillRef idx="1">
            <a:schemeClr val="lt1"/>
          </a:fillRef>
          <a:effectRef idx="0">
            <a:schemeClr val="dk1"/>
          </a:effectRef>
          <a:fontRef idx="minor">
            <a:schemeClr val="dk1"/>
          </a:fontRef>
        </p:style>
        <p:txBody>
          <a:bodyPr>
            <a:normAutofit fontScale="90000"/>
          </a:bodyPr>
          <a:lstStyle/>
          <a:p>
            <a:r>
              <a:rPr lang="en-US"/>
              <a:t>If you are hired as a manager plan a strategy for me?</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66683"/>
            <a:ext cx="8229600" cy="1143000"/>
          </a:xfrm>
        </p:spPr>
        <p:style>
          <a:lnRef idx="2">
            <a:schemeClr val="dk1"/>
          </a:lnRef>
          <a:fillRef idx="1">
            <a:schemeClr val="lt1"/>
          </a:fillRef>
          <a:effectRef idx="0">
            <a:schemeClr val="dk1"/>
          </a:effectRef>
          <a:fontRef idx="minor">
            <a:schemeClr val="dk1"/>
          </a:fontRef>
        </p:style>
        <p:txBody>
          <a:bodyPr>
            <a:normAutofit fontScale="90000"/>
          </a:bodyPr>
          <a:lstStyle/>
          <a:p>
            <a:r>
              <a:rPr lang="en-US" dirty="0"/>
              <a:t>If you </a:t>
            </a:r>
            <a:r>
              <a:rPr lang="en-US" dirty="0" smtClean="0"/>
              <a:t>have </a:t>
            </a:r>
            <a:r>
              <a:rPr lang="en-US" dirty="0"/>
              <a:t>a dream to fulfill, what it would be?</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2883"/>
            <a:ext cx="8229600" cy="1143000"/>
          </a:xfrm>
        </p:spPr>
        <p:style>
          <a:lnRef idx="2">
            <a:schemeClr val="dk1"/>
          </a:lnRef>
          <a:fillRef idx="1">
            <a:schemeClr val="lt1"/>
          </a:fillRef>
          <a:effectRef idx="0">
            <a:schemeClr val="dk1"/>
          </a:effectRef>
          <a:fontRef idx="minor">
            <a:schemeClr val="dk1"/>
          </a:fontRef>
        </p:style>
        <p:txBody>
          <a:bodyPr>
            <a:normAutofit fontScale="90000"/>
          </a:bodyPr>
          <a:lstStyle/>
          <a:p>
            <a:r>
              <a:rPr lang="en-US"/>
              <a:t>If you want to start a restaurant what products will you offer and how</a:t>
            </a:r>
            <a:r>
              <a:rPr lang="en-IN" altLang="en-US"/>
              <a:t>?</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19083"/>
            <a:ext cx="8229600" cy="1143000"/>
          </a:xfrm>
        </p:spPr>
        <p:style>
          <a:lnRef idx="2">
            <a:schemeClr val="dk1"/>
          </a:lnRef>
          <a:fillRef idx="1">
            <a:schemeClr val="lt1"/>
          </a:fillRef>
          <a:effectRef idx="0">
            <a:schemeClr val="dk1"/>
          </a:effectRef>
          <a:fontRef idx="minor">
            <a:schemeClr val="dk1"/>
          </a:fontRef>
        </p:style>
        <p:txBody>
          <a:bodyPr>
            <a:normAutofit fontScale="90000"/>
          </a:bodyPr>
          <a:lstStyle/>
          <a:p>
            <a:r>
              <a:rPr lang="en-US"/>
              <a:t>Is there any difference between managers and leaders?</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68164545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183"/>
            <a:ext cx="8229600" cy="1143000"/>
          </a:xfrm>
        </p:spPr>
        <p:style>
          <a:lnRef idx="2">
            <a:schemeClr val="dk1"/>
          </a:lnRef>
          <a:fillRef idx="1">
            <a:schemeClr val="lt1"/>
          </a:fillRef>
          <a:effectRef idx="0">
            <a:schemeClr val="dk1"/>
          </a:effectRef>
          <a:fontRef idx="minor">
            <a:schemeClr val="dk1"/>
          </a:fontRef>
        </p:style>
        <p:txBody>
          <a:bodyPr>
            <a:normAutofit fontScale="90000"/>
          </a:bodyPr>
          <a:lstStyle/>
          <a:p>
            <a:r>
              <a:rPr lang="en-US"/>
              <a:t>Leadership quality</a:t>
            </a:r>
            <a:r>
              <a:rPr lang="en-IN" altLang="en-US"/>
              <a:t>? Leadership Examples</a:t>
            </a: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95283"/>
            <a:ext cx="8229600" cy="1143000"/>
          </a:xfrm>
        </p:spPr>
        <p:style>
          <a:lnRef idx="2">
            <a:schemeClr val="dk1"/>
          </a:lnRef>
          <a:fillRef idx="1">
            <a:schemeClr val="lt1"/>
          </a:fillRef>
          <a:effectRef idx="0">
            <a:schemeClr val="dk1"/>
          </a:effectRef>
          <a:fontRef idx="minor">
            <a:schemeClr val="dk1"/>
          </a:fontRef>
        </p:style>
        <p:txBody>
          <a:bodyPr/>
          <a:lstStyle/>
          <a:p>
            <a:r>
              <a:rPr lang="en-US"/>
              <a:t>Role model?</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19083"/>
            <a:ext cx="8229600" cy="1143000"/>
          </a:xfrm>
        </p:spPr>
        <p:style>
          <a:lnRef idx="2">
            <a:schemeClr val="dk1"/>
          </a:lnRef>
          <a:fillRef idx="1">
            <a:schemeClr val="lt1"/>
          </a:fillRef>
          <a:effectRef idx="0">
            <a:schemeClr val="dk1"/>
          </a:effectRef>
          <a:fontRef idx="minor">
            <a:schemeClr val="dk1"/>
          </a:fontRef>
        </p:style>
        <p:txBody>
          <a:bodyPr>
            <a:normAutofit fontScale="90000"/>
          </a:bodyPr>
          <a:lstStyle/>
          <a:p>
            <a:r>
              <a:rPr lang="en-US"/>
              <a:t>Sell a dance class course to a lazy, tired office guy</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123883"/>
            <a:ext cx="8229600" cy="1143000"/>
          </a:xfrm>
        </p:spPr>
        <p:style>
          <a:lnRef idx="2">
            <a:schemeClr val="dk1"/>
          </a:lnRef>
          <a:fillRef idx="1">
            <a:schemeClr val="lt1"/>
          </a:fillRef>
          <a:effectRef idx="0">
            <a:schemeClr val="dk1"/>
          </a:effectRef>
          <a:fontRef idx="minor">
            <a:schemeClr val="dk1"/>
          </a:fontRef>
        </p:style>
        <p:txBody>
          <a:bodyPr/>
          <a:lstStyle/>
          <a:p>
            <a:r>
              <a:rPr lang="en-US"/>
              <a:t>Sell an AC in Kashmir?</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2883"/>
            <a:ext cx="8229600" cy="1143000"/>
          </a:xfrm>
        </p:spPr>
        <p:style>
          <a:lnRef idx="2">
            <a:schemeClr val="dk1"/>
          </a:lnRef>
          <a:fillRef idx="1">
            <a:schemeClr val="lt1"/>
          </a:fillRef>
          <a:effectRef idx="0">
            <a:schemeClr val="dk1"/>
          </a:effectRef>
          <a:fontRef idx="minor">
            <a:schemeClr val="dk1"/>
          </a:fontRef>
        </p:style>
        <p:txBody>
          <a:bodyPr>
            <a:normAutofit fontScale="90000"/>
          </a:bodyPr>
          <a:lstStyle/>
          <a:p>
            <a:r>
              <a:rPr lang="en-US"/>
              <a:t>Speak for two minutes on a white blank paper</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742883"/>
            <a:ext cx="8229600" cy="1143000"/>
          </a:xfrm>
        </p:spPr>
        <p:style>
          <a:lnRef idx="2">
            <a:schemeClr val="dk1"/>
          </a:lnRef>
          <a:fillRef idx="1">
            <a:schemeClr val="lt1"/>
          </a:fillRef>
          <a:effectRef idx="0">
            <a:schemeClr val="dk1"/>
          </a:effectRef>
          <a:fontRef idx="minor">
            <a:schemeClr val="dk1"/>
          </a:fontRef>
        </p:style>
        <p:txBody>
          <a:bodyPr/>
          <a:lstStyle/>
          <a:p>
            <a:r>
              <a:rPr lang="en-US"/>
              <a:t>Skills for entrepreneur </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19083"/>
            <a:ext cx="8229600" cy="1143000"/>
          </a:xfrm>
        </p:spPr>
        <p:style>
          <a:lnRef idx="2">
            <a:schemeClr val="dk1"/>
          </a:lnRef>
          <a:fillRef idx="1">
            <a:schemeClr val="lt1"/>
          </a:fillRef>
          <a:effectRef idx="0">
            <a:schemeClr val="dk1"/>
          </a:effectRef>
          <a:fontRef idx="minor">
            <a:schemeClr val="dk1"/>
          </a:fontRef>
        </p:style>
        <p:txBody>
          <a:bodyPr>
            <a:normAutofit fontScale="90000"/>
          </a:bodyPr>
          <a:lstStyle/>
          <a:p>
            <a:r>
              <a:rPr lang="en-US"/>
              <a:t>Take any topic of your choice and speak for 2 minutes</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66683"/>
            <a:ext cx="8229600" cy="1143000"/>
          </a:xfrm>
        </p:spPr>
        <p:style>
          <a:lnRef idx="2">
            <a:schemeClr val="dk1"/>
          </a:lnRef>
          <a:fillRef idx="1">
            <a:schemeClr val="lt1"/>
          </a:fillRef>
          <a:effectRef idx="0">
            <a:schemeClr val="dk1"/>
          </a:effectRef>
          <a:fontRef idx="minor">
            <a:schemeClr val="dk1"/>
          </a:fontRef>
        </p:style>
        <p:txBody>
          <a:bodyPr/>
          <a:lstStyle/>
          <a:p>
            <a:r>
              <a:rPr lang="en-US"/>
              <a:t>Talk about a half filled glass</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666683"/>
            <a:ext cx="8229600" cy="1143000"/>
          </a:xfrm>
        </p:spPr>
        <p:style>
          <a:lnRef idx="2">
            <a:schemeClr val="dk1"/>
          </a:lnRef>
          <a:fillRef idx="1">
            <a:schemeClr val="lt1"/>
          </a:fillRef>
          <a:effectRef idx="0">
            <a:schemeClr val="dk1"/>
          </a:effectRef>
          <a:fontRef idx="minor">
            <a:schemeClr val="dk1"/>
          </a:fontRef>
        </p:style>
        <p:txBody>
          <a:bodyPr>
            <a:normAutofit/>
          </a:bodyPr>
          <a:lstStyle/>
          <a:p>
            <a:r>
              <a:rPr lang="en-US" sz="3110"/>
              <a:t>Today is 25th of month and you had target of 10 sales but you did 2 then what will be the strategy</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r>
              <a:rPr lang="en-US"/>
              <a:t>Types of leadership styles</a:t>
            </a:r>
          </a:p>
        </p:txBody>
      </p:sp>
      <p:sp>
        <p:nvSpPr>
          <p:cNvPr id="3" name="Content Placeholder 2"/>
          <p:cNvSpPr>
            <a:spLocks noGrp="1"/>
          </p:cNvSpPr>
          <p:nvPr>
            <p:ph idx="1"/>
          </p:nvPr>
        </p:nvSpPr>
        <p:spPr/>
        <p:txBody>
          <a:bodyPr>
            <a:normAutofit fontScale="90000" lnSpcReduction="20000"/>
          </a:bodyPr>
          <a:lstStyle/>
          <a:p>
            <a:pPr marL="0" indent="0">
              <a:buNone/>
            </a:pPr>
            <a:r>
              <a:rPr lang="en-US"/>
              <a:t>1. Autocratic Leadership</a:t>
            </a:r>
          </a:p>
          <a:p>
            <a:pPr marL="0" indent="0">
              <a:buNone/>
            </a:pPr>
            <a:r>
              <a:rPr lang="en-US"/>
              <a:t>2. Transactional Leadership</a:t>
            </a:r>
          </a:p>
          <a:p>
            <a:pPr marL="0" indent="0">
              <a:buNone/>
            </a:pPr>
            <a:r>
              <a:rPr lang="en-US"/>
              <a:t>3. Bureaucratic Leadership</a:t>
            </a:r>
          </a:p>
          <a:p>
            <a:pPr marL="0" indent="0">
              <a:buNone/>
            </a:pPr>
            <a:r>
              <a:rPr lang="en-US"/>
              <a:t>4. Charismatic Leadership</a:t>
            </a:r>
          </a:p>
          <a:p>
            <a:pPr marL="0" indent="0">
              <a:buNone/>
            </a:pPr>
            <a:r>
              <a:rPr lang="en-US"/>
              <a:t>5. Transformational Leadership</a:t>
            </a:r>
          </a:p>
          <a:p>
            <a:pPr marL="0" indent="0">
              <a:buNone/>
            </a:pPr>
            <a:r>
              <a:rPr lang="en-US"/>
              <a:t>6. Coaching Leadership</a:t>
            </a:r>
          </a:p>
          <a:p>
            <a:pPr marL="0" indent="0">
              <a:buNone/>
            </a:pPr>
            <a:r>
              <a:rPr lang="en-US"/>
              <a:t>7. Democratic Leadership</a:t>
            </a:r>
          </a:p>
          <a:p>
            <a:pPr marL="0" indent="0">
              <a:buNone/>
            </a:pPr>
            <a:r>
              <a:rPr lang="en-US"/>
              <a:t>8. Collaborative Leadership</a:t>
            </a:r>
          </a:p>
          <a:p>
            <a:pPr marL="0" indent="0">
              <a:buNone/>
            </a:pPr>
            <a:r>
              <a:rPr lang="en-US"/>
              <a:t>9. Servant Leadership</a:t>
            </a:r>
          </a:p>
          <a:p>
            <a:pPr marL="0" indent="0">
              <a:buNone/>
            </a:pPr>
            <a:r>
              <a:rPr lang="en-US"/>
              <a:t>10. Laissez-Faire Leadership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2000"/>
                                        <p:tgtEl>
                                          <p:spTgt spid="3">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ox(in)">
                                      <p:cBhvr>
                                        <p:cTn id="10" dur="2000"/>
                                        <p:tgtEl>
                                          <p:spTgt spid="3">
                                            <p:txEl>
                                              <p:pRg st="1" end="1"/>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ox(in)">
                                      <p:cBhvr>
                                        <p:cTn id="13" dur="2000"/>
                                        <p:tgtEl>
                                          <p:spTgt spid="3">
                                            <p:txEl>
                                              <p:pRg st="2" end="2"/>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ox(in)">
                                      <p:cBhvr>
                                        <p:cTn id="16" dur="2000"/>
                                        <p:tgtEl>
                                          <p:spTgt spid="3">
                                            <p:txEl>
                                              <p:pRg st="3" end="3"/>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ox(in)">
                                      <p:cBhvr>
                                        <p:cTn id="19" dur="2000"/>
                                        <p:tgtEl>
                                          <p:spTgt spid="3">
                                            <p:txEl>
                                              <p:pRg st="4" end="4"/>
                                            </p:txEl>
                                          </p:spTgt>
                                        </p:tgtEl>
                                      </p:cBhvr>
                                    </p:animEffect>
                                  </p:childTnLst>
                                </p:cTn>
                              </p:par>
                              <p:par>
                                <p:cTn id="20" presetID="4" presetClass="entr" presetSubtype="16"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box(in)">
                                      <p:cBhvr>
                                        <p:cTn id="22" dur="2000"/>
                                        <p:tgtEl>
                                          <p:spTgt spid="3">
                                            <p:txEl>
                                              <p:pRg st="5" end="5"/>
                                            </p:txEl>
                                          </p:spTgt>
                                        </p:tgtEl>
                                      </p:cBhvr>
                                    </p:animEffect>
                                  </p:childTnLst>
                                </p:cTn>
                              </p:par>
                              <p:par>
                                <p:cTn id="23" presetID="4" presetClass="entr" presetSubtype="16"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box(in)">
                                      <p:cBhvr>
                                        <p:cTn id="25" dur="2000"/>
                                        <p:tgtEl>
                                          <p:spTgt spid="3">
                                            <p:txEl>
                                              <p:pRg st="6" end="6"/>
                                            </p:txEl>
                                          </p:spTgt>
                                        </p:tgtEl>
                                      </p:cBhvr>
                                    </p:animEffect>
                                  </p:childTnLst>
                                </p:cTn>
                              </p:par>
                              <p:par>
                                <p:cTn id="26" presetID="4" presetClass="entr" presetSubtype="16"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box(in)">
                                      <p:cBhvr>
                                        <p:cTn id="28" dur="2000"/>
                                        <p:tgtEl>
                                          <p:spTgt spid="3">
                                            <p:txEl>
                                              <p:pRg st="7" end="7"/>
                                            </p:txEl>
                                          </p:spTgt>
                                        </p:tgtEl>
                                      </p:cBhvr>
                                    </p:animEffect>
                                  </p:childTnLst>
                                </p:cTn>
                              </p:par>
                              <p:par>
                                <p:cTn id="29" presetID="4" presetClass="entr" presetSubtype="16"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box(in)">
                                      <p:cBhvr>
                                        <p:cTn id="31" dur="2000"/>
                                        <p:tgtEl>
                                          <p:spTgt spid="3">
                                            <p:txEl>
                                              <p:pRg st="8" end="8"/>
                                            </p:txEl>
                                          </p:spTgt>
                                        </p:tgtEl>
                                      </p:cBhvr>
                                    </p:animEffect>
                                  </p:childTnLst>
                                </p:cTn>
                              </p:par>
                              <p:par>
                                <p:cTn id="32" presetID="4" presetClass="entr" presetSubtype="16" fill="hold" nodeType="with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Effect transition="in" filter="box(in)">
                                      <p:cBhvr>
                                        <p:cTn id="34" dur="2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857183"/>
            <a:ext cx="8229600" cy="1143000"/>
          </a:xfrm>
        </p:spPr>
        <p:style>
          <a:lnRef idx="2">
            <a:schemeClr val="dk1"/>
          </a:lnRef>
          <a:fillRef idx="1">
            <a:schemeClr val="lt1"/>
          </a:fillRef>
          <a:effectRef idx="0">
            <a:schemeClr val="dk1"/>
          </a:effectRef>
          <a:fontRef idx="minor">
            <a:schemeClr val="dk1"/>
          </a:fontRef>
        </p:style>
        <p:txBody>
          <a:bodyPr>
            <a:normAutofit/>
          </a:bodyPr>
          <a:lstStyle/>
          <a:p>
            <a:r>
              <a:rPr lang="en-US" sz="3110"/>
              <a:t>What are the things that you like to see in a work environment and in a company?</a:t>
            </a: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971483"/>
            <a:ext cx="8229600" cy="1143000"/>
          </a:xfrm>
        </p:spPr>
        <p:style>
          <a:lnRef idx="2">
            <a:schemeClr val="dk1"/>
          </a:lnRef>
          <a:fillRef idx="1">
            <a:schemeClr val="lt1"/>
          </a:fillRef>
          <a:effectRef idx="0">
            <a:schemeClr val="dk1"/>
          </a:effectRef>
          <a:fontRef idx="minor">
            <a:schemeClr val="dk1"/>
          </a:fontRef>
        </p:style>
        <p:txBody>
          <a:bodyPr>
            <a:normAutofit fontScale="90000"/>
          </a:bodyPr>
          <a:lstStyle/>
          <a:p>
            <a:r>
              <a:rPr lang="en-US"/>
              <a:t>What do you see in a candidate when you hire them?</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183"/>
            <a:ext cx="8229600" cy="1143000"/>
          </a:xfrm>
        </p:spPr>
        <p:style>
          <a:lnRef idx="2">
            <a:schemeClr val="dk1"/>
          </a:lnRef>
          <a:fillRef idx="1">
            <a:schemeClr val="lt1"/>
          </a:fillRef>
          <a:effectRef idx="0">
            <a:schemeClr val="dk1"/>
          </a:effectRef>
          <a:fontRef idx="minor">
            <a:schemeClr val="dk1"/>
          </a:fontRef>
        </p:style>
        <p:txBody>
          <a:bodyPr/>
          <a:lstStyle/>
          <a:p>
            <a:r>
              <a:rPr lang="en-US"/>
              <a:t>What is freedom?</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71483"/>
            <a:ext cx="8229600" cy="1143000"/>
          </a:xfrm>
        </p:spPr>
        <p:style>
          <a:lnRef idx="2">
            <a:schemeClr val="dk1"/>
          </a:lnRef>
          <a:fillRef idx="1">
            <a:schemeClr val="lt1"/>
          </a:fillRef>
          <a:effectRef idx="0">
            <a:schemeClr val="dk1"/>
          </a:effectRef>
          <a:fontRef idx="minor">
            <a:schemeClr val="dk1"/>
          </a:fontRef>
        </p:style>
        <p:txBody>
          <a:bodyPr/>
          <a:lstStyle/>
          <a:p>
            <a:r>
              <a:rPr lang="en-US"/>
              <a:t>What is goodwill?</a:t>
            </a: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183"/>
            <a:ext cx="8229600" cy="1143000"/>
          </a:xfrm>
        </p:spPr>
        <p:style>
          <a:lnRef idx="2">
            <a:schemeClr val="dk1"/>
          </a:lnRef>
          <a:fillRef idx="1">
            <a:schemeClr val="lt1"/>
          </a:fillRef>
          <a:effectRef idx="0">
            <a:schemeClr val="dk1"/>
          </a:effectRef>
          <a:fontRef idx="minor">
            <a:schemeClr val="dk1"/>
          </a:fontRef>
        </p:style>
        <p:txBody>
          <a:bodyPr/>
          <a:lstStyle/>
          <a:p>
            <a:r>
              <a:rPr lang="en-IN" altLang="en-US"/>
              <a:t>Why ISMS?</a:t>
            </a: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514350" indent="-514350"/>
            <a:r>
              <a:rPr lang="en-US" dirty="0"/>
              <a:t>DO YOU HAVE ANY QUESTIONS FOR US?</a:t>
            </a:r>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fontScale="92500" lnSpcReduction="10000"/>
          </a:bodyPr>
          <a:lstStyle/>
          <a:p>
            <a:pPr marL="514350" lvl="0" indent="-514350">
              <a:buFont typeface="+mj-lt"/>
              <a:buAutoNum type="arabicPeriod"/>
            </a:pPr>
            <a:r>
              <a:rPr lang="en-US" dirty="0" smtClean="0"/>
              <a:t>I want to know about career prospects in this company</a:t>
            </a:r>
          </a:p>
          <a:p>
            <a:pPr marL="514350" lvl="0" indent="-514350">
              <a:buFont typeface="+mj-lt"/>
              <a:buAutoNum type="arabicPeriod"/>
            </a:pPr>
            <a:r>
              <a:rPr lang="en-US" dirty="0" smtClean="0"/>
              <a:t>I want to confirm the job responsibilities</a:t>
            </a:r>
          </a:p>
          <a:p>
            <a:pPr marL="514350" lvl="0" indent="-514350">
              <a:buFont typeface="+mj-lt"/>
              <a:buAutoNum type="arabicPeriod"/>
            </a:pPr>
            <a:r>
              <a:rPr lang="en-US" dirty="0" smtClean="0"/>
              <a:t>What kind of trainings are imparted to the employees  here?</a:t>
            </a:r>
          </a:p>
          <a:p>
            <a:pPr marL="514350" lvl="0" indent="-514350">
              <a:buNone/>
            </a:pPr>
            <a:r>
              <a:rPr lang="en-US" dirty="0" smtClean="0"/>
              <a:t>      or</a:t>
            </a:r>
          </a:p>
          <a:p>
            <a:pPr marL="514350" indent="-514350">
              <a:buNone/>
            </a:pPr>
            <a:r>
              <a:rPr lang="en-US" dirty="0" smtClean="0"/>
              <a:t>    Whether specific training is given for a particular project?</a:t>
            </a:r>
          </a:p>
          <a:p>
            <a:pPr marL="514350" indent="-514350">
              <a:buNone/>
            </a:pPr>
            <a:r>
              <a:rPr lang="en-US" dirty="0" smtClean="0"/>
              <a:t>4. I want to know the work culture of the company?</a:t>
            </a:r>
          </a:p>
          <a:p>
            <a:pPr lvl="0">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linds(horizontal)">
                                      <p:cBhvr>
                                        <p:cTn id="16" dur="500"/>
                                        <p:tgtEl>
                                          <p:spTgt spid="3">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linds(horizontal)">
                                      <p:cBhvr>
                                        <p:cTn id="19" dur="500"/>
                                        <p:tgtEl>
                                          <p:spTgt spid="3">
                                            <p:txEl>
                                              <p:pRg st="4" end="4"/>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blinds(horizontal)">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6"/>
          </a:fillRef>
          <a:effectRef idx="1">
            <a:schemeClr val="accent6"/>
          </a:effectRef>
          <a:fontRef idx="minor">
            <a:schemeClr val="lt1"/>
          </a:fontRef>
        </p:style>
        <p:txBody>
          <a:bodyPr/>
          <a:lstStyle/>
          <a:p>
            <a:r>
              <a:rPr lang="en-US" dirty="0" smtClean="0"/>
              <a:t>AFTER THE INTERVIEW</a:t>
            </a:r>
            <a:endParaRPr lang="en-US"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pPr marL="514350" indent="-514350">
              <a:buAutoNum type="arabicPeriod"/>
            </a:pPr>
            <a:r>
              <a:rPr lang="en-US" dirty="0" smtClean="0"/>
              <a:t>SELF ANALYSIS ( COMMUNICATION, CONFIDENCE)</a:t>
            </a:r>
          </a:p>
          <a:p>
            <a:pPr marL="514350" indent="-514350">
              <a:buAutoNum type="arabicPeriod"/>
            </a:pPr>
            <a:r>
              <a:rPr lang="en-US" dirty="0" smtClean="0"/>
              <a:t>PREPARATION  POINTERS </a:t>
            </a:r>
          </a:p>
          <a:p>
            <a:r>
              <a:rPr lang="en-US" dirty="0" smtClean="0"/>
              <a:t>TECHNICAL PREPARATION</a:t>
            </a:r>
          </a:p>
          <a:p>
            <a:r>
              <a:rPr lang="en-US" dirty="0" smtClean="0"/>
              <a:t>HR PREPARATION</a:t>
            </a:r>
          </a:p>
          <a:p>
            <a:pPr marL="0" indent="0">
              <a:buNone/>
            </a:pPr>
            <a:r>
              <a:rPr lang="en-US" dirty="0" smtClean="0"/>
              <a:t>3. NEXT PLAN OF ACTION</a:t>
            </a:r>
            <a:endParaRPr lang="en-US" dirty="0"/>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143000"/>
          </a:xfrm>
        </p:spPr>
        <p:txBody>
          <a:bodyPr>
            <a:normAutofit fontScale="90000"/>
          </a:bodyPr>
          <a:lstStyle/>
          <a:p>
            <a:r>
              <a:rPr lang="en-US" sz="5400" dirty="0" smtClean="0"/>
              <a:t/>
            </a:r>
            <a:br>
              <a:rPr lang="en-US" sz="5400" dirty="0" smtClean="0"/>
            </a:br>
            <a:r>
              <a:rPr lang="en-US" sz="4400" dirty="0" smtClean="0"/>
              <a:t>Three sentences for getting success :</a:t>
            </a:r>
            <a:endParaRPr lang="en-US" sz="4400" dirty="0"/>
          </a:p>
        </p:txBody>
      </p:sp>
      <p:sp>
        <p:nvSpPr>
          <p:cNvPr id="3" name="Content Placeholder 2"/>
          <p:cNvSpPr>
            <a:spLocks noGrp="1"/>
          </p:cNvSpPr>
          <p:nvPr>
            <p:ph idx="1"/>
          </p:nvPr>
        </p:nvSpPr>
        <p:spPr/>
        <p:txBody>
          <a:bodyPr/>
          <a:lstStyle/>
          <a:p>
            <a:endParaRPr lang="en-US" sz="2800" dirty="0" smtClean="0"/>
          </a:p>
          <a:p>
            <a:pPr marL="514350" indent="-514350" algn="ctr">
              <a:buNone/>
            </a:pPr>
            <a:endParaRPr lang="en-US" sz="4400" b="1" dirty="0" smtClean="0"/>
          </a:p>
          <a:p>
            <a:pPr marL="514350" indent="-514350" algn="ctr">
              <a:buNone/>
            </a:pPr>
            <a:r>
              <a:rPr lang="en-US" sz="4400" b="1" dirty="0" smtClean="0"/>
              <a:t>Know more than others</a:t>
            </a:r>
          </a:p>
          <a:p>
            <a:pPr marL="514350" indent="-514350" algn="ctr">
              <a:buNone/>
            </a:pPr>
            <a:r>
              <a:rPr lang="en-US" sz="4400" b="1" dirty="0" smtClean="0"/>
              <a:t>Work more than others</a:t>
            </a:r>
          </a:p>
          <a:p>
            <a:pPr marL="514350" indent="-514350" algn="ctr">
              <a:buNone/>
            </a:pPr>
            <a:r>
              <a:rPr lang="en-US" sz="4400" b="1" dirty="0" smtClean="0"/>
              <a:t>Expect less than others</a:t>
            </a:r>
            <a:endParaRPr lang="en-US" sz="4400" b="1" dirty="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endParaRPr lang="en-US" dirty="0" smtClean="0"/>
          </a:p>
          <a:p>
            <a:pPr>
              <a:buNone/>
            </a:pPr>
            <a:endParaRPr lang="en-US" dirty="0" smtClean="0"/>
          </a:p>
          <a:p>
            <a:pPr algn="ctr">
              <a:buNone/>
            </a:pPr>
            <a:r>
              <a:rPr lang="en-US" dirty="0" smtClean="0">
                <a:latin typeface="Arial Rounded MT Bold" panose="020F0704030504030204" pitchFamily="34" charset="0"/>
              </a:rPr>
              <a:t>     </a:t>
            </a:r>
            <a:r>
              <a:rPr lang="en-US" sz="6000" dirty="0" smtClean="0">
                <a:latin typeface="Arial Rounded MT Bold" panose="020F0704030504030204" pitchFamily="34" charset="0"/>
              </a:rPr>
              <a:t>THANK YOU</a:t>
            </a:r>
            <a:endParaRPr lang="en-US" sz="6000" dirty="0">
              <a:latin typeface="Arial Rounded MT Bold" panose="020F0704030504030204"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1418</TotalTime>
  <Words>2189</Words>
  <Application>Microsoft Office PowerPoint</Application>
  <PresentationFormat>On-screen Show (4:3)</PresentationFormat>
  <Paragraphs>317</Paragraphs>
  <Slides>89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89</vt:i4>
      </vt:variant>
    </vt:vector>
  </HeadingPairs>
  <TitlesOfParts>
    <vt:vector size="96" baseType="lpstr">
      <vt:lpstr>Arial</vt:lpstr>
      <vt:lpstr>Arial Rounded MT Bold</vt:lpstr>
      <vt:lpstr>Calibri</vt:lpstr>
      <vt:lpstr>Cambria</vt:lpstr>
      <vt:lpstr>Verdana</vt:lpstr>
      <vt:lpstr>Wingdings</vt:lpstr>
      <vt:lpstr>Office Theme</vt:lpstr>
      <vt:lpstr>INTERVIEW SKILLS</vt:lpstr>
      <vt:lpstr>What do you mean by interview?</vt:lpstr>
      <vt:lpstr>INTERVIEW</vt:lpstr>
      <vt:lpstr>Facing an Interview</vt:lpstr>
      <vt:lpstr>   It’s time to sell yourself</vt:lpstr>
      <vt:lpstr> TYPES OF INTERVIEWS</vt:lpstr>
      <vt:lpstr>3 STEPS FORMULA TO CRACK AN INTERVIEW</vt:lpstr>
      <vt:lpstr>BEFORE THE INTERVIEW</vt:lpstr>
      <vt:lpstr>DURING THE INTERVIEW</vt:lpstr>
      <vt:lpstr>How to Answer toughest questions</vt:lpstr>
      <vt:lpstr>Take me through your CV?</vt:lpstr>
      <vt:lpstr>TAKE ME THROUGH YOUR CV?</vt:lpstr>
      <vt:lpstr>TAKE ME THROUGH YOUR CV? ( IT)</vt:lpstr>
      <vt:lpstr>My Answer</vt:lpstr>
      <vt:lpstr>TELL ME ABOUT YOUR FAMILY BACKGROUND?</vt:lpstr>
      <vt:lpstr>GIVE ME YOUR STRENGTH AND WEAKNESS?</vt:lpstr>
      <vt:lpstr>List of strengths and weaknesses</vt:lpstr>
      <vt:lpstr> WHAT DO YOU KNOW ABOUT OUR COMPNAY? </vt:lpstr>
      <vt:lpstr>Answer</vt:lpstr>
      <vt:lpstr>Why IT?</vt:lpstr>
      <vt:lpstr>Why MBA?</vt:lpstr>
      <vt:lpstr>Why MBA?</vt:lpstr>
      <vt:lpstr>WHY MBA</vt:lpstr>
      <vt:lpstr>Top Sectors</vt:lpstr>
      <vt:lpstr>Why Marketing?</vt:lpstr>
      <vt:lpstr> Marketing is a versatile field </vt:lpstr>
      <vt:lpstr> Marketing is dynamic </vt:lpstr>
      <vt:lpstr> A Marketing MBA Will Expand Your Business Knowledge </vt:lpstr>
      <vt:lpstr>Why Marketing</vt:lpstr>
      <vt:lpstr>Why Finance?</vt:lpstr>
      <vt:lpstr>Jobs in Finance</vt:lpstr>
      <vt:lpstr>PowerPoint Presentation</vt:lpstr>
      <vt:lpstr>Top Recruiters</vt:lpstr>
      <vt:lpstr>Why Finance</vt:lpstr>
      <vt:lpstr>PowerPoint Presentation</vt:lpstr>
      <vt:lpstr>WHY HR?</vt:lpstr>
      <vt:lpstr>Opportunities</vt:lpstr>
      <vt:lpstr>PowerPoint Presentation</vt:lpstr>
      <vt:lpstr> HR career in BPO, Corporate sectors, Service sector </vt:lpstr>
      <vt:lpstr> HR career in the Education sector </vt:lpstr>
      <vt:lpstr> HR career in the Banking sector </vt:lpstr>
      <vt:lpstr>Why HR</vt:lpstr>
      <vt:lpstr>WHERE DO YOU SEE YOURSELF AFTER 5 YEARS?</vt:lpstr>
      <vt:lpstr>Answer for IT</vt:lpstr>
      <vt:lpstr> MY JOURNEY IN 12 YEARS</vt:lpstr>
      <vt:lpstr>Why Should you be hired?</vt:lpstr>
      <vt:lpstr>Answer</vt:lpstr>
      <vt:lpstr>Why should you be hired?</vt:lpstr>
      <vt:lpstr> Why should you be hired? </vt:lpstr>
      <vt:lpstr> WHAT ARE YOUR SALARY EXPECTATIONS? </vt:lpstr>
      <vt:lpstr> WHAT ARE YOUR SALARY EXPECTATIONS? </vt:lpstr>
      <vt:lpstr>  A situation where you have taken a tough decision </vt:lpstr>
      <vt:lpstr> What are your short term and long term goals? </vt:lpstr>
      <vt:lpstr> What are your short term and long term goals? </vt:lpstr>
      <vt:lpstr>What is your opinion about working on weeknends?</vt:lpstr>
      <vt:lpstr>Are you comfortable in any location?</vt:lpstr>
      <vt:lpstr>Are you flexible in us shift?</vt:lpstr>
      <vt:lpstr>What are your achievements?</vt:lpstr>
      <vt:lpstr>Are you comfortable with the bond of. 1 year of 5 lacs?</vt:lpstr>
      <vt:lpstr>Describe yourself in a word</vt:lpstr>
      <vt:lpstr>How do you define success?</vt:lpstr>
      <vt:lpstr>How do you behave and socialize in a party?</vt:lpstr>
      <vt:lpstr>How do you handle pressure?</vt:lpstr>
      <vt:lpstr>How you will count no of tree in pune region?</vt:lpstr>
      <vt:lpstr>If you are doing business after 4 to 5 years which business you will do and how can you research on that</vt:lpstr>
      <vt:lpstr>If you are hired as a manager plan a strategy for me?</vt:lpstr>
      <vt:lpstr>If you have a dream to fulfill, what it would be?</vt:lpstr>
      <vt:lpstr>If you want to start a restaurant what products will you offer and how?</vt:lpstr>
      <vt:lpstr>Is there any difference between managers and leaders?</vt:lpstr>
      <vt:lpstr>PowerPoint Presentation</vt:lpstr>
      <vt:lpstr>Leadership quality? Leadership Examples</vt:lpstr>
      <vt:lpstr>Role model?</vt:lpstr>
      <vt:lpstr>Sell a dance class course to a lazy, tired office guy</vt:lpstr>
      <vt:lpstr>Sell an AC in Kashmir?</vt:lpstr>
      <vt:lpstr>Speak for two minutes on a white blank paper</vt:lpstr>
      <vt:lpstr>Skills for entrepreneur </vt:lpstr>
      <vt:lpstr>Take any topic of your choice and speak for 2 minutes</vt:lpstr>
      <vt:lpstr>Talk about a half filled glass</vt:lpstr>
      <vt:lpstr>Today is 25th of month and you had target of 10 sales but you did 2 then what will be the strategy</vt:lpstr>
      <vt:lpstr>Types of leadership styles</vt:lpstr>
      <vt:lpstr>What are the things that you like to see in a work environment and in a company?</vt:lpstr>
      <vt:lpstr>What do you see in a candidate when you hire them?</vt:lpstr>
      <vt:lpstr>What is freedom?</vt:lpstr>
      <vt:lpstr>What is goodwill?</vt:lpstr>
      <vt:lpstr>Why ISMS?</vt:lpstr>
      <vt:lpstr>DO YOU HAVE ANY QUESTIONS FOR US?</vt:lpstr>
      <vt:lpstr>AFTER THE INTERVIEW</vt:lpstr>
      <vt:lpstr> Three sentences for getting success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INTERVIEW SKILLS</dc:title>
  <dc:creator>Windows User</dc:creator>
  <cp:lastModifiedBy>admin</cp:lastModifiedBy>
  <cp:revision>71</cp:revision>
  <dcterms:created xsi:type="dcterms:W3CDTF">2022-06-14T02:58:00Z</dcterms:created>
  <dcterms:modified xsi:type="dcterms:W3CDTF">2025-12-15T05:19:46Z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C0FF8A7B61AE4FA99F18CE254881D83F</vt:lpwstr>
  </property>
  <property fmtid="{D5CDD505-2E9C-101B-9397-08002B2CF9AE}" pid="3" name="KSOProductBuildVer">
    <vt:lpwstr>1033-11.2.0.11156</vt:lpwstr>
  </property>
</Properties>
</file>